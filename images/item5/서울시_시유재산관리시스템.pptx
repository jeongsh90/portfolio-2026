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7" r:id="rId2"/>
  </p:sldMasterIdLst>
  <p:notesMasterIdLst>
    <p:notesMasterId r:id="rId10"/>
  </p:notesMasterIdLst>
  <p:handoutMasterIdLst>
    <p:handoutMasterId r:id="rId11"/>
  </p:handoutMasterIdLst>
  <p:sldIdLst>
    <p:sldId id="1837" r:id="rId3"/>
    <p:sldId id="1840" r:id="rId4"/>
    <p:sldId id="1841" r:id="rId5"/>
    <p:sldId id="1842" r:id="rId6"/>
    <p:sldId id="1845" r:id="rId7"/>
    <p:sldId id="1838" r:id="rId8"/>
    <p:sldId id="1836" r:id="rId9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5715" userDrawn="1">
          <p15:clr>
            <a:srgbClr val="A4A3A4"/>
          </p15:clr>
        </p15:guide>
        <p15:guide id="10" pos="68" userDrawn="1">
          <p15:clr>
            <a:srgbClr val="A4A3A4"/>
          </p15:clr>
        </p15:guide>
        <p15:guide id="24" pos="4286" userDrawn="1">
          <p15:clr>
            <a:srgbClr val="A4A3A4"/>
          </p15:clr>
        </p15:guide>
        <p15:guide id="25" orient="horz" pos="3997" userDrawn="1">
          <p15:clr>
            <a:srgbClr val="A4A3A4"/>
          </p15:clr>
        </p15:guide>
        <p15:guide id="26" pos="998" userDrawn="1">
          <p15:clr>
            <a:srgbClr val="A4A3A4"/>
          </p15:clr>
        </p15:guide>
        <p15:guide id="27" pos="2426" userDrawn="1">
          <p15:clr>
            <a:srgbClr val="A4A3A4"/>
          </p15:clr>
        </p15:guide>
        <p15:guide id="28" pos="2494" userDrawn="1">
          <p15:clr>
            <a:srgbClr val="A4A3A4"/>
          </p15:clr>
        </p15:guide>
        <p15:guide id="29" pos="42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hnyj" initials="A" lastIdx="0" clrIdx="0"/>
  <p:cmAuthor id="1" name="song06" initials="s" lastIdx="1" clrIdx="1">
    <p:extLst>
      <p:ext uri="{19B8F6BF-5375-455C-9EA6-DF929625EA0E}">
        <p15:presenceInfo xmlns:p15="http://schemas.microsoft.com/office/powerpoint/2012/main" userId="song06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CC0000"/>
    <a:srgbClr val="37340C"/>
    <a:srgbClr val="0088E7"/>
    <a:srgbClr val="FF00FF"/>
    <a:srgbClr val="FF6600"/>
    <a:srgbClr val="FF3300"/>
    <a:srgbClr val="0B4CDD"/>
    <a:srgbClr val="0074C5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88" autoAdjust="0"/>
    <p:restoredTop sz="96400" autoAdjust="0"/>
  </p:normalViewPr>
  <p:slideViewPr>
    <p:cSldViewPr snapToGrid="0" showGuides="1">
      <p:cViewPr varScale="1">
        <p:scale>
          <a:sx n="81" d="100"/>
          <a:sy n="81" d="100"/>
        </p:scale>
        <p:origin x="1248" y="62"/>
      </p:cViewPr>
      <p:guideLst>
        <p:guide pos="5715"/>
        <p:guide pos="68"/>
        <p:guide pos="4286"/>
        <p:guide orient="horz" pos="3997"/>
        <p:guide pos="998"/>
        <p:guide pos="2426"/>
        <p:guide pos="2494"/>
        <p:guide pos="42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-3822" y="-102"/>
      </p:cViewPr>
      <p:guideLst>
        <p:guide orient="horz" pos="3128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3"/>
            <a:ext cx="2945659" cy="496410"/>
          </a:xfrm>
          <a:prstGeom prst="rect">
            <a:avLst/>
          </a:prstGeom>
        </p:spPr>
        <p:txBody>
          <a:bodyPr vert="horz" lIns="95526" tIns="47763" rIns="95526" bIns="4776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8" y="3"/>
            <a:ext cx="2945659" cy="496410"/>
          </a:xfrm>
          <a:prstGeom prst="rect">
            <a:avLst/>
          </a:prstGeom>
        </p:spPr>
        <p:txBody>
          <a:bodyPr vert="horz" lIns="95526" tIns="47763" rIns="95526" bIns="47763" rtlCol="0"/>
          <a:lstStyle>
            <a:lvl1pPr algn="r">
              <a:defRPr sz="1300"/>
            </a:lvl1pPr>
          </a:lstStyle>
          <a:p>
            <a:fld id="{690493FF-C390-4D86-9753-BFF0B860D0B2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9430093"/>
            <a:ext cx="2945659" cy="496410"/>
          </a:xfrm>
          <a:prstGeom prst="rect">
            <a:avLst/>
          </a:prstGeom>
        </p:spPr>
        <p:txBody>
          <a:bodyPr vert="horz" lIns="95526" tIns="47763" rIns="95526" bIns="4776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8" y="9430093"/>
            <a:ext cx="2945659" cy="496410"/>
          </a:xfrm>
          <a:prstGeom prst="rect">
            <a:avLst/>
          </a:prstGeom>
        </p:spPr>
        <p:txBody>
          <a:bodyPr vert="horz" lIns="95526" tIns="47763" rIns="95526" bIns="47763" rtlCol="0" anchor="b"/>
          <a:lstStyle>
            <a:lvl1pPr algn="r">
              <a:defRPr sz="1300"/>
            </a:lvl1pPr>
          </a:lstStyle>
          <a:p>
            <a:fld id="{8566D5FB-1320-4448-8590-EF0402A72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404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3"/>
            <a:ext cx="2945659" cy="496410"/>
          </a:xfrm>
          <a:prstGeom prst="rect">
            <a:avLst/>
          </a:prstGeom>
        </p:spPr>
        <p:txBody>
          <a:bodyPr vert="horz" lIns="95526" tIns="47763" rIns="95526" bIns="4776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8" y="3"/>
            <a:ext cx="2945659" cy="496410"/>
          </a:xfrm>
          <a:prstGeom prst="rect">
            <a:avLst/>
          </a:prstGeom>
        </p:spPr>
        <p:txBody>
          <a:bodyPr vert="horz" lIns="95526" tIns="47763" rIns="95526" bIns="47763" rtlCol="0"/>
          <a:lstStyle>
            <a:lvl1pPr algn="r">
              <a:defRPr sz="1300"/>
            </a:lvl1pPr>
          </a:lstStyle>
          <a:p>
            <a:fld id="{FFACF5F9-BF6D-45A1-8B7F-E33A63BB863C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26" tIns="47763" rIns="95526" bIns="4776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9"/>
            <a:ext cx="5438140" cy="4467701"/>
          </a:xfrm>
          <a:prstGeom prst="rect">
            <a:avLst/>
          </a:prstGeom>
        </p:spPr>
        <p:txBody>
          <a:bodyPr vert="horz" lIns="95526" tIns="47763" rIns="95526" bIns="4776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30093"/>
            <a:ext cx="2945659" cy="496410"/>
          </a:xfrm>
          <a:prstGeom prst="rect">
            <a:avLst/>
          </a:prstGeom>
        </p:spPr>
        <p:txBody>
          <a:bodyPr vert="horz" lIns="95526" tIns="47763" rIns="95526" bIns="4776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8" y="9430093"/>
            <a:ext cx="2945659" cy="496410"/>
          </a:xfrm>
          <a:prstGeom prst="rect">
            <a:avLst/>
          </a:prstGeom>
        </p:spPr>
        <p:txBody>
          <a:bodyPr vert="horz" lIns="95526" tIns="47763" rIns="95526" bIns="47763" rtlCol="0" anchor="b"/>
          <a:lstStyle>
            <a:lvl1pPr algn="r">
              <a:defRPr sz="1300"/>
            </a:lvl1pPr>
          </a:lstStyle>
          <a:p>
            <a:fld id="{13DF0817-840A-4486-B261-AF34827343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63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18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143692" y="638328"/>
            <a:ext cx="6719786" cy="6031031"/>
            <a:chOff x="350047" y="871866"/>
            <a:chExt cx="6283666" cy="5879920"/>
          </a:xfrm>
        </p:grpSpPr>
        <p:grpSp>
          <p:nvGrpSpPr>
            <p:cNvPr id="4" name="그룹 3"/>
            <p:cNvGrpSpPr/>
            <p:nvPr/>
          </p:nvGrpSpPr>
          <p:grpSpPr>
            <a:xfrm>
              <a:off x="350047" y="871866"/>
              <a:ext cx="6283666" cy="302872"/>
              <a:chOff x="539552" y="871866"/>
              <a:chExt cx="5904656" cy="302872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Menubar"/>
              <p:cNvSpPr>
                <a:spLocks/>
              </p:cNvSpPr>
              <p:nvPr/>
            </p:nvSpPr>
            <p:spPr bwMode="auto">
              <a:xfrm>
                <a:off x="539552" y="1044109"/>
                <a:ext cx="5904656" cy="1306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 defTabSz="360000"/>
                <a:r>
                  <a:rPr lang="en-US" altLang="ko-KR" sz="600" dirty="0">
                    <a:solidFill>
                      <a:srgbClr val="262626"/>
                    </a:solidFill>
                    <a:latin typeface="휴먼명조" panose="02010504000101010101" pitchFamily="2" charset="-127"/>
                    <a:ea typeface="휴먼명조" panose="02010504000101010101" pitchFamily="2" charset="-127"/>
                  </a:rPr>
                  <a:t>Location</a:t>
                </a:r>
                <a:endParaRPr lang="en-US" sz="600" dirty="0">
                  <a:solidFill>
                    <a:srgbClr val="262626"/>
                  </a:solidFill>
                  <a:latin typeface="휴먼명조" panose="02010504000101010101" pitchFamily="2" charset="-127"/>
                  <a:ea typeface="휴먼명조" panose="02010504000101010101" pitchFamily="2" charset="-127"/>
                </a:endParaRPr>
              </a:p>
            </p:txBody>
          </p:sp>
          <p:sp>
            <p:nvSpPr>
              <p:cNvPr id="8" name="Menubar"/>
              <p:cNvSpPr>
                <a:spLocks/>
              </p:cNvSpPr>
              <p:nvPr/>
            </p:nvSpPr>
            <p:spPr bwMode="auto">
              <a:xfrm>
                <a:off x="539552" y="871866"/>
                <a:ext cx="5904656" cy="172244"/>
              </a:xfrm>
              <a:prstGeom prst="rect">
                <a:avLst/>
              </a:prstGeom>
              <a:grpFill/>
              <a:ln w="6350" cap="flat" cmpd="sng" algn="ctr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360000"/>
                <a:r>
                  <a:rPr lang="en-US" altLang="ko-KR" sz="800" dirty="0">
                    <a:solidFill>
                      <a:srgbClr val="262626"/>
                    </a:solidFill>
                    <a:latin typeface="휴먼명조" panose="02010504000101010101" pitchFamily="2" charset="-127"/>
                    <a:ea typeface="휴먼명조" panose="02010504000101010101" pitchFamily="2" charset="-127"/>
                  </a:rPr>
                  <a:t>#header</a:t>
                </a:r>
                <a:endParaRPr lang="en-US" sz="800" dirty="0">
                  <a:solidFill>
                    <a:srgbClr val="262626"/>
                  </a:solidFill>
                  <a:latin typeface="휴먼명조" panose="02010504000101010101" pitchFamily="2" charset="-127"/>
                  <a:ea typeface="휴먼명조" panose="02010504000101010101" pitchFamily="2" charset="-127"/>
                </a:endParaRPr>
              </a:p>
            </p:txBody>
          </p:sp>
        </p:grpSp>
        <p:sp>
          <p:nvSpPr>
            <p:cNvPr id="5" name="Menubar"/>
            <p:cNvSpPr>
              <a:spLocks/>
            </p:cNvSpPr>
            <p:nvPr/>
          </p:nvSpPr>
          <p:spPr bwMode="auto">
            <a:xfrm>
              <a:off x="350047" y="6509151"/>
              <a:ext cx="6283666" cy="2426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60000"/>
              <a:r>
                <a:rPr lang="en-US" sz="800" dirty="0">
                  <a:solidFill>
                    <a:srgbClr val="262626"/>
                  </a:solidFill>
                  <a:latin typeface="휴먼명조" panose="02010504000101010101" pitchFamily="2" charset="-127"/>
                  <a:ea typeface="휴먼명조" panose="02010504000101010101" pitchFamily="2" charset="-127"/>
                </a:rPr>
                <a:t>#Footer</a:t>
              </a:r>
            </a:p>
          </p:txBody>
        </p:sp>
        <p:sp>
          <p:nvSpPr>
            <p:cNvPr id="6" name="Menubar"/>
            <p:cNvSpPr>
              <a:spLocks/>
            </p:cNvSpPr>
            <p:nvPr/>
          </p:nvSpPr>
          <p:spPr bwMode="auto">
            <a:xfrm>
              <a:off x="350047" y="1174738"/>
              <a:ext cx="6283666" cy="5334412"/>
            </a:xfrm>
            <a:prstGeom prst="rect">
              <a:avLst/>
            </a:prstGeom>
            <a:noFill/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60000"/>
              <a:endParaRPr lang="en-US" sz="600" dirty="0">
                <a:solidFill>
                  <a:srgbClr val="262626"/>
                </a:solidFill>
                <a:latin typeface="휴먼명조" panose="02010504000101010101" pitchFamily="2" charset="-127"/>
                <a:ea typeface="휴먼명조" panose="02010504000101010101" pitchFamily="2" charset="-127"/>
              </a:endParaRPr>
            </a:p>
          </p:txBody>
        </p:sp>
        <p:sp>
          <p:nvSpPr>
            <p:cNvPr id="9" name="Menubar"/>
            <p:cNvSpPr>
              <a:spLocks/>
            </p:cNvSpPr>
            <p:nvPr userDrawn="1"/>
          </p:nvSpPr>
          <p:spPr bwMode="auto">
            <a:xfrm>
              <a:off x="643208" y="6359837"/>
              <a:ext cx="5697344" cy="121318"/>
            </a:xfrm>
            <a:prstGeom prst="rect">
              <a:avLst/>
            </a:prstGeom>
            <a:noFill/>
            <a:ln w="63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60000"/>
              <a:r>
                <a:rPr lang="en-US" sz="700" dirty="0">
                  <a:solidFill>
                    <a:srgbClr val="262626"/>
                  </a:solidFill>
                  <a:latin typeface="휴먼명조" panose="02010504000101010101" pitchFamily="2" charset="-127"/>
                  <a:ea typeface="휴먼명조" panose="02010504000101010101" pitchFamily="2" charset="-127"/>
                </a:rPr>
                <a:t>#</a:t>
              </a:r>
              <a:r>
                <a:rPr lang="ko-KR" altLang="en-US" sz="700" dirty="0">
                  <a:solidFill>
                    <a:srgbClr val="262626"/>
                  </a:solidFill>
                  <a:latin typeface="휴먼명조" panose="02010504000101010101" pitchFamily="2" charset="-127"/>
                  <a:ea typeface="휴먼명조" panose="02010504000101010101" pitchFamily="2" charset="-127"/>
                </a:rPr>
                <a:t>페이지 하단 공통</a:t>
              </a:r>
              <a:endParaRPr lang="en-US" sz="700" dirty="0">
                <a:solidFill>
                  <a:srgbClr val="262626"/>
                </a:solidFill>
                <a:latin typeface="휴먼명조" panose="02010504000101010101" pitchFamily="2" charset="-127"/>
                <a:ea typeface="휴먼명조" panose="02010504000101010101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463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33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6676980"/>
            <a:ext cx="9144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4314448" y="6656816"/>
            <a:ext cx="5040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8A84CA1-731A-40B1-98F5-F0A3E5C6FD6D}" type="slidenum">
              <a:rPr lang="ko-KR" altLang="en-US" sz="800" smtClean="0">
                <a:latin typeface="휴먼명조" panose="02010504000101010101" pitchFamily="2" charset="-127"/>
                <a:ea typeface="휴먼명조" panose="02010504000101010101" pitchFamily="2" charset="-127"/>
              </a:rPr>
              <a:pPr algn="ctr"/>
              <a:t>‹#›</a:t>
            </a:fld>
            <a:endParaRPr lang="ko-KR" altLang="en-US" sz="800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graphicFrame>
        <p:nvGraphicFramePr>
          <p:cNvPr id="8" name="Group 4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5615217"/>
              </p:ext>
            </p:extLst>
          </p:nvPr>
        </p:nvGraphicFramePr>
        <p:xfrm>
          <a:off x="35496" y="37004"/>
          <a:ext cx="9073008" cy="481190"/>
        </p:xfrm>
        <a:graphic>
          <a:graphicData uri="http://schemas.openxmlformats.org/drawingml/2006/table">
            <a:tbl>
              <a:tblPr/>
              <a:tblGrid>
                <a:gridCol w="59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79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i="0" u="none" strike="noStrike" dirty="0">
                          <a:effectLst/>
                          <a:latin typeface="휴먼명조" panose="02010504000101010101" pitchFamily="2" charset="-127"/>
                          <a:ea typeface="휴먼명조" panose="02010504000101010101" pitchFamily="2" charset="-127"/>
                        </a:rPr>
                        <a:t>사용자 인터페이스정의서</a:t>
                      </a:r>
                      <a:endParaRPr lang="en-US" altLang="ko-KR" sz="1800" b="1" i="0" u="none" strike="noStrike" dirty="0">
                        <a:effectLst/>
                        <a:latin typeface="휴먼명조" panose="02010504000101010101" pitchFamily="2" charset="-127"/>
                        <a:ea typeface="휴먼명조" panose="02010504000101010101" pitchFamily="2" charset="-127"/>
                      </a:endParaRPr>
                    </a:p>
                  </a:txBody>
                  <a:tcPr marL="36000" marR="36000" marT="18000" marB="18000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8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명조" panose="02010504000101010101" pitchFamily="2" charset="-127"/>
                          <a:ea typeface="휴먼명조" panose="02010504000101010101" pitchFamily="2" charset="-127"/>
                        </a:rPr>
                        <a:t>사업명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명조" panose="02010504000101010101" pitchFamily="2" charset="-127"/>
                        <a:ea typeface="휴먼명조" panose="02010504000101010101" pitchFamily="2" charset="-127"/>
                      </a:endParaRPr>
                    </a:p>
                  </a:txBody>
                  <a:tcPr marL="36000" marR="36000" marT="18000" marB="18000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명조" panose="02010504000101010101" pitchFamily="2" charset="-127"/>
                          <a:ea typeface="휴먼명조" panose="02010504000101010101" pitchFamily="2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명조" panose="02010504000101010101" pitchFamily="2" charset="-127"/>
                          <a:ea typeface="휴먼명조" panose="02010504000101010101" pitchFamily="2" charset="-127"/>
                        </a:rPr>
                        <a:t>시유재산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명조" panose="02010504000101010101" pitchFamily="2" charset="-127"/>
                          <a:ea typeface="휴먼명조" panose="02010504000101010101" pitchFamily="2" charset="-127"/>
                        </a:rPr>
                        <a:t> 뷰어</a:t>
                      </a:r>
                    </a:p>
                  </a:txBody>
                  <a:tcPr marL="36000" marR="36000" marT="18000" marB="18000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명조" panose="02010504000101010101" pitchFamily="2" charset="-127"/>
                          <a:ea typeface="휴먼명조" panose="02010504000101010101" pitchFamily="2" charset="-127"/>
                        </a:rPr>
                        <a:t>문서번호</a:t>
                      </a:r>
                    </a:p>
                  </a:txBody>
                  <a:tcPr marL="36000" marR="36000" marT="18000" marB="18000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휴먼명조" panose="02010504000101010101" pitchFamily="2" charset="-127"/>
                        <a:ea typeface="휴먼명조" panose="02010504000101010101" pitchFamily="2" charset="-127"/>
                      </a:endParaRPr>
                    </a:p>
                  </a:txBody>
                  <a:tcPr marL="36000" marR="36000" marT="18000" marB="18000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8016784" y="6653603"/>
            <a:ext cx="1069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휴먼명조" panose="02010504000101010101" pitchFamily="2" charset="-127"/>
                <a:ea typeface="휴먼명조" panose="02010504000101010101" pitchFamily="2" charset="-127"/>
              </a:rPr>
              <a:t>(</a:t>
            </a:r>
            <a:r>
              <a:rPr lang="ko-KR" altLang="en-US" sz="800" dirty="0">
                <a:latin typeface="휴먼명조" panose="02010504000101010101" pitchFamily="2" charset="-127"/>
                <a:ea typeface="휴먼명조" panose="02010504000101010101" pitchFamily="2" charset="-127"/>
              </a:rPr>
              <a:t>주</a:t>
            </a:r>
            <a:r>
              <a:rPr lang="en-US" altLang="ko-KR" sz="800" dirty="0">
                <a:latin typeface="휴먼명조" panose="02010504000101010101" pitchFamily="2" charset="-127"/>
                <a:ea typeface="휴먼명조" panose="02010504000101010101" pitchFamily="2" charset="-127"/>
              </a:rPr>
              <a:t>)</a:t>
            </a:r>
            <a:r>
              <a:rPr lang="ko-KR" altLang="en-US" sz="800" dirty="0" err="1">
                <a:latin typeface="휴먼명조" panose="02010504000101010101" pitchFamily="2" charset="-127"/>
                <a:ea typeface="휴먼명조" panose="02010504000101010101" pitchFamily="2" charset="-127"/>
              </a:rPr>
              <a:t>지오앤컨소시엄</a:t>
            </a:r>
            <a:endParaRPr lang="ko-KR" altLang="en-US" sz="800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75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6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3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.xml"/><Relationship Id="rId7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3.xml"/><Relationship Id="rId7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jpeg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9.png"/><Relationship Id="rId4" Type="http://schemas.openxmlformats.org/officeDocument/2006/relationships/tags" Target="../tags/tag18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tags" Target="../tags/tag21.xml"/><Relationship Id="rId7" Type="http://schemas.openxmlformats.org/officeDocument/2006/relationships/image" Target="../media/image2.png"/><Relationship Id="rId12" Type="http://schemas.openxmlformats.org/officeDocument/2006/relationships/image" Target="../media/image14.png"/><Relationship Id="rId2" Type="http://schemas.openxmlformats.org/officeDocument/2006/relationships/tags" Target="../tags/tag20.xml"/><Relationship Id="rId16" Type="http://schemas.openxmlformats.org/officeDocument/2006/relationships/image" Target="../media/image18.png"/><Relationship Id="rId1" Type="http://schemas.openxmlformats.org/officeDocument/2006/relationships/tags" Target="../tags/tag19.xml"/><Relationship Id="rId6" Type="http://schemas.openxmlformats.org/officeDocument/2006/relationships/image" Target="../media/image1.jpeg"/><Relationship Id="rId11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tags" Target="../tags/tag22.xml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25.xml"/><Relationship Id="rId7" Type="http://schemas.openxmlformats.org/officeDocument/2006/relationships/image" Target="../media/image3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20.png"/><Relationship Id="rId5" Type="http://schemas.openxmlformats.org/officeDocument/2006/relationships/tags" Target="../tags/tag27.xml"/><Relationship Id="rId10" Type="http://schemas.openxmlformats.org/officeDocument/2006/relationships/image" Target="../media/image2.png"/><Relationship Id="rId4" Type="http://schemas.openxmlformats.org/officeDocument/2006/relationships/tags" Target="../tags/tag26.xml"/><Relationship Id="rId9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2.png"/><Relationship Id="rId5" Type="http://schemas.openxmlformats.org/officeDocument/2006/relationships/tags" Target="../tags/tag32.xml"/><Relationship Id="rId10" Type="http://schemas.openxmlformats.org/officeDocument/2006/relationships/image" Target="../media/image1.jpeg"/><Relationship Id="rId4" Type="http://schemas.openxmlformats.org/officeDocument/2006/relationships/tags" Target="../tags/tag3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E37F-4970-0EF2-FDE5-7674A2F1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4">
            <a:extLst>
              <a:ext uri="{FF2B5EF4-FFF2-40B4-BE49-F238E27FC236}">
                <a16:creationId xmlns:a16="http://schemas.microsoft.com/office/drawing/2014/main" id="{4D5703E7-EC1B-2EE3-9031-848D81B00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04" y="620009"/>
            <a:ext cx="6695793" cy="7142866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924" dirty="0">
                <a:latin typeface="HDCardLight" pitchFamily="50" charset="-127"/>
                <a:ea typeface="HDCardLight" pitchFamily="50" charset="-127"/>
              </a:rPr>
              <a:t> </a:t>
            </a:r>
            <a:endParaRPr lang="ko-KR" altLang="en-US" sz="924" dirty="0">
              <a:latin typeface="HDCardLight" pitchFamily="50" charset="-127"/>
              <a:ea typeface="HDCardLight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833175D-0472-4ABF-A39E-7E6D87165AA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6" b="5645"/>
          <a:stretch>
            <a:fillRect/>
          </a:stretch>
        </p:blipFill>
        <p:spPr>
          <a:xfrm>
            <a:off x="61464" y="1447544"/>
            <a:ext cx="6662641" cy="1844096"/>
          </a:xfrm>
          <a:prstGeom prst="rect">
            <a:avLst/>
          </a:prstGeom>
        </p:spPr>
      </p:pic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D2C21495-B656-97FF-17DD-9498E923F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871525"/>
              </p:ext>
            </p:extLst>
          </p:nvPr>
        </p:nvGraphicFramePr>
        <p:xfrm>
          <a:off x="6948263" y="548680"/>
          <a:ext cx="2160242" cy="3514416"/>
        </p:xfrm>
        <a:graphic>
          <a:graphicData uri="http://schemas.openxmlformats.org/drawingml/2006/table">
            <a:tbl>
              <a:tblPr firstRow="1" bandRow="1"/>
              <a:tblGrid>
                <a:gridCol w="288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4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시스템명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7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화면 및 기능설명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kern="1200" dirty="0">
                        <a:solidFill>
                          <a:srgbClr val="333333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메인 화면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토지정밀대장 조회 화면 가기 버튼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최근 등록 </a:t>
                      </a:r>
                      <a:r>
                        <a:rPr lang="ko-KR" altLang="en-US" sz="7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시유재산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목록은 </a:t>
                      </a:r>
                      <a: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개만 보이게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315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645768"/>
                  </a:ext>
                </a:extLst>
              </a:tr>
              <a:tr h="12762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71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28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6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616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90162"/>
                  </a:ext>
                </a:extLst>
              </a:tr>
              <a:tr h="313632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174385"/>
                  </a:ext>
                </a:extLst>
              </a:tr>
              <a:tr h="23522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0270"/>
                  </a:ext>
                </a:extLst>
              </a:tr>
              <a:tr h="15681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1915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D959A32-C91B-EFCC-06D3-541C0C901D00}"/>
              </a:ext>
            </a:extLst>
          </p:cNvPr>
          <p:cNvSpPr txBox="1"/>
          <p:nvPr/>
        </p:nvSpPr>
        <p:spPr>
          <a:xfrm>
            <a:off x="2323378" y="1069910"/>
            <a:ext cx="3184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시유재산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소개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토지정밀대장 조회   데이터 관리   게시판</a:t>
            </a:r>
          </a:p>
        </p:txBody>
      </p:sp>
      <p:sp>
        <p:nvSpPr>
          <p:cNvPr id="13" name="Button">
            <a:extLst>
              <a:ext uri="{FF2B5EF4-FFF2-40B4-BE49-F238E27FC236}">
                <a16:creationId xmlns:a16="http://schemas.microsoft.com/office/drawing/2014/main" id="{981EFF28-8E40-11D6-5E30-1342D1BAFD58}"/>
              </a:ext>
            </a:extLst>
          </p:cNvPr>
          <p:cNvSpPr>
            <a:spLocks/>
          </p:cNvSpPr>
          <p:nvPr/>
        </p:nvSpPr>
        <p:spPr bwMode="auto">
          <a:xfrm>
            <a:off x="5536727" y="1080457"/>
            <a:ext cx="865894" cy="218029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시유재산</a:t>
            </a:r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 지도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AFCC1835-136B-F0FC-A22D-08A4E59D3C61}"/>
              </a:ext>
            </a:extLst>
          </p:cNvPr>
          <p:cNvSpPr>
            <a:spLocks/>
          </p:cNvSpPr>
          <p:nvPr/>
        </p:nvSpPr>
        <p:spPr bwMode="auto">
          <a:xfrm>
            <a:off x="6043604" y="710091"/>
            <a:ext cx="351615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로그인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5" name="Button">
            <a:extLst>
              <a:ext uri="{FF2B5EF4-FFF2-40B4-BE49-F238E27FC236}">
                <a16:creationId xmlns:a16="http://schemas.microsoft.com/office/drawing/2014/main" id="{AB69AD51-A840-C4AB-B218-B3C690ABCF83}"/>
              </a:ext>
            </a:extLst>
          </p:cNvPr>
          <p:cNvSpPr>
            <a:spLocks/>
          </p:cNvSpPr>
          <p:nvPr/>
        </p:nvSpPr>
        <p:spPr bwMode="auto">
          <a:xfrm>
            <a:off x="5536726" y="710091"/>
            <a:ext cx="468001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회원가입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7" name="Label">
            <a:extLst>
              <a:ext uri="{FF2B5EF4-FFF2-40B4-BE49-F238E27FC236}">
                <a16:creationId xmlns:a16="http://schemas.microsoft.com/office/drawing/2014/main" id="{0061B789-1E4B-522D-92B8-110A412B584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291" y="212577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6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6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8" name="Label">
            <a:extLst>
              <a:ext uri="{FF2B5EF4-FFF2-40B4-BE49-F238E27FC236}">
                <a16:creationId xmlns:a16="http://schemas.microsoft.com/office/drawing/2014/main" id="{05853996-4487-AC88-7695-4765C7BBD92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6689" y="2488811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서울시가 보유한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시유재산의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위치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용도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활용 현황 등을 한눈에 확인할 수 있는 플랫폼 입니다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EFD7C9A-511C-4B8B-8D71-97BBD46DD1AC}"/>
              </a:ext>
            </a:extLst>
          </p:cNvPr>
          <p:cNvGrpSpPr/>
          <p:nvPr/>
        </p:nvGrpSpPr>
        <p:grpSpPr>
          <a:xfrm>
            <a:off x="228477" y="774682"/>
            <a:ext cx="1565768" cy="502862"/>
            <a:chOff x="228477" y="774682"/>
            <a:chExt cx="1565768" cy="50286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A9D07B1-DF43-6F68-F374-E7C4409A2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477" y="774682"/>
              <a:ext cx="787232" cy="212474"/>
            </a:xfrm>
            <a:prstGeom prst="rect">
              <a:avLst/>
            </a:prstGeom>
          </p:spPr>
        </p:pic>
        <p:sp>
          <p:nvSpPr>
            <p:cNvPr id="6" name="Label">
              <a:extLst>
                <a:ext uri="{FF2B5EF4-FFF2-40B4-BE49-F238E27FC236}">
                  <a16:creationId xmlns:a16="http://schemas.microsoft.com/office/drawing/2014/main" id="{B7DCE451-7E7E-707C-F973-3F82FA3A7B34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89028" y="987156"/>
              <a:ext cx="1405217" cy="290388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05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시유재산</a:t>
              </a:r>
              <a:r>
                <a:rPr lang="ko-KR" altLang="en-US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 관리 시스템</a:t>
              </a:r>
              <a:endPara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" name="Label">
            <a:extLst>
              <a:ext uri="{FF2B5EF4-FFF2-40B4-BE49-F238E27FC236}">
                <a16:creationId xmlns:a16="http://schemas.microsoft.com/office/drawing/2014/main" id="{D1304C26-7E4C-2D1A-34D3-892FA532A8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1993" y="3391848"/>
            <a:ext cx="4603160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Segoe UI" panose="020B0502040204020203" pitchFamily="34" charset="0"/>
              </a:rPr>
              <a:t>||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자치구 </a:t>
            </a:r>
            <a:r>
              <a:rPr lang="ko-KR" altLang="en-US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등록 현황</a:t>
            </a:r>
            <a:endParaRPr lang="en-US" altLang="ko-KR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92D23E-519A-58D0-5A82-0BAF7A10F61E}"/>
              </a:ext>
            </a:extLst>
          </p:cNvPr>
          <p:cNvSpPr/>
          <p:nvPr/>
        </p:nvSpPr>
        <p:spPr bwMode="auto">
          <a:xfrm>
            <a:off x="228478" y="3722990"/>
            <a:ext cx="6405424" cy="1385495"/>
          </a:xfrm>
          <a:prstGeom prst="rect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6800" tIns="10800" rIns="10800" bIns="10800" rtlCol="0" anchor="ctr" anchorCtr="0">
            <a:spAutoFit/>
          </a:bodyPr>
          <a:lstStyle/>
          <a:p>
            <a:pPr algn="ctr"/>
            <a:endParaRPr lang="ko-KR" altLang="en-US" sz="800" dirty="0">
              <a:solidFill>
                <a:schemeClr val="tx1"/>
              </a:solidFill>
              <a:cs typeface="Calibri" pitchFamily="34" charset="0"/>
            </a:endParaRPr>
          </a:p>
        </p:txBody>
      </p:sp>
      <p:sp>
        <p:nvSpPr>
          <p:cNvPr id="10" name="Label">
            <a:extLst>
              <a:ext uri="{FF2B5EF4-FFF2-40B4-BE49-F238E27FC236}">
                <a16:creationId xmlns:a16="http://schemas.microsoft.com/office/drawing/2014/main" id="{5D8C15F2-3FCE-73CC-C9E7-3D02C8DBB97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06820" y="3573564"/>
            <a:ext cx="6039401" cy="1684060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강남구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강동구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6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강북구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43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강서구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50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관악구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20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광진구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구로구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24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금천구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건          노원구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3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  도봉구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20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동대문구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동작구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5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마포구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서대문구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5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서초구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20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성동구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50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성북구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30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송파구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20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양천구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30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영등포구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용산구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 은평구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20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종로구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          중구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중랑구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10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" name="Button">
            <a:extLst>
              <a:ext uri="{FF2B5EF4-FFF2-40B4-BE49-F238E27FC236}">
                <a16:creationId xmlns:a16="http://schemas.microsoft.com/office/drawing/2014/main" id="{F709F6A4-E040-7752-B690-A0B037BE78F4}"/>
              </a:ext>
            </a:extLst>
          </p:cNvPr>
          <p:cNvSpPr>
            <a:spLocks/>
          </p:cNvSpPr>
          <p:nvPr/>
        </p:nvSpPr>
        <p:spPr bwMode="auto">
          <a:xfrm>
            <a:off x="6156201" y="3505875"/>
            <a:ext cx="468001" cy="135378"/>
          </a:xfrm>
          <a:prstGeom prst="roundRect">
            <a:avLst>
              <a:gd name="adj" fmla="val 8776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MORE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51AD49A-FA56-BB04-8194-94EE6C24B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00757"/>
              </p:ext>
            </p:extLst>
          </p:nvPr>
        </p:nvGraphicFramePr>
        <p:xfrm>
          <a:off x="228477" y="5588766"/>
          <a:ext cx="641262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207">
                  <a:extLst>
                    <a:ext uri="{9D8B030D-6E8A-4147-A177-3AD203B41FA5}">
                      <a16:colId xmlns:a16="http://schemas.microsoft.com/office/drawing/2014/main" val="4128644683"/>
                    </a:ext>
                  </a:extLst>
                </a:gridCol>
                <a:gridCol w="640334">
                  <a:extLst>
                    <a:ext uri="{9D8B030D-6E8A-4147-A177-3AD203B41FA5}">
                      <a16:colId xmlns:a16="http://schemas.microsoft.com/office/drawing/2014/main" val="4190086056"/>
                    </a:ext>
                  </a:extLst>
                </a:gridCol>
                <a:gridCol w="738232">
                  <a:extLst>
                    <a:ext uri="{9D8B030D-6E8A-4147-A177-3AD203B41FA5}">
                      <a16:colId xmlns:a16="http://schemas.microsoft.com/office/drawing/2014/main" val="136413938"/>
                    </a:ext>
                  </a:extLst>
                </a:gridCol>
                <a:gridCol w="2130803">
                  <a:extLst>
                    <a:ext uri="{9D8B030D-6E8A-4147-A177-3AD203B41FA5}">
                      <a16:colId xmlns:a16="http://schemas.microsoft.com/office/drawing/2014/main" val="395193071"/>
                    </a:ext>
                  </a:extLst>
                </a:gridCol>
                <a:gridCol w="645953">
                  <a:extLst>
                    <a:ext uri="{9D8B030D-6E8A-4147-A177-3AD203B41FA5}">
                      <a16:colId xmlns:a16="http://schemas.microsoft.com/office/drawing/2014/main" val="962954669"/>
                    </a:ext>
                  </a:extLst>
                </a:gridCol>
                <a:gridCol w="574727">
                  <a:extLst>
                    <a:ext uri="{9D8B030D-6E8A-4147-A177-3AD203B41FA5}">
                      <a16:colId xmlns:a16="http://schemas.microsoft.com/office/drawing/2014/main" val="3908652524"/>
                    </a:ext>
                  </a:extLst>
                </a:gridCol>
                <a:gridCol w="1041371">
                  <a:extLst>
                    <a:ext uri="{9D8B030D-6E8A-4147-A177-3AD203B41FA5}">
                      <a16:colId xmlns:a16="http://schemas.microsoft.com/office/drawing/2014/main" val="4075408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j-lt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lt"/>
                        </a:rPr>
                        <a:t>지목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lt"/>
                        </a:rPr>
                        <a:t>구분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lt"/>
                        </a:rPr>
                        <a:t>주소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lt"/>
                        </a:rPr>
                        <a:t>면적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lt"/>
                        </a:rPr>
                        <a:t>재산번호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시유재산취득일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38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j-lt"/>
                        </a:rPr>
                        <a:t>1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j-lt"/>
                        </a:rPr>
                        <a:t>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j-lt"/>
                        </a:rPr>
                        <a:t>일반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j-lt"/>
                        </a:rPr>
                        <a:t>서울특별시 서초</a:t>
                      </a:r>
                      <a:r>
                        <a:rPr lang="en-US" altLang="ko-KR" sz="800" b="1" dirty="0">
                          <a:latin typeface="+mj-lt"/>
                        </a:rPr>
                        <a:t>..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j-lt"/>
                        </a:rPr>
                        <a:t>22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j-lt"/>
                        </a:rPr>
                        <a:t>141153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j-lt"/>
                        </a:rPr>
                        <a:t>1264450…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467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j-lt"/>
                        </a:rPr>
                        <a:t>2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j-lt"/>
                        </a:rPr>
                        <a:t>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일반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서울특별시 서초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endParaRPr lang="ko-KR" altLang="en-US" sz="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j-lt"/>
                        </a:rPr>
                        <a:t>23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j-lt"/>
                        </a:rPr>
                        <a:t>141152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1264450…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52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j-lt"/>
                        </a:rPr>
                        <a:t>…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일반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  <a:endParaRPr lang="ko-KR" altLang="en-US" sz="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lang="ko-KR" altLang="en-US" sz="800" b="1" dirty="0">
                        <a:latin typeface="+mj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179584"/>
                  </a:ext>
                </a:extLst>
              </a:tr>
            </a:tbl>
          </a:graphicData>
        </a:graphic>
      </p:graphicFrame>
      <p:sp>
        <p:nvSpPr>
          <p:cNvPr id="24" name="Button">
            <a:extLst>
              <a:ext uri="{FF2B5EF4-FFF2-40B4-BE49-F238E27FC236}">
                <a16:creationId xmlns:a16="http://schemas.microsoft.com/office/drawing/2014/main" id="{437F449D-0095-9FFF-FC44-0BA80E5ED4C5}"/>
              </a:ext>
            </a:extLst>
          </p:cNvPr>
          <p:cNvSpPr>
            <a:spLocks/>
          </p:cNvSpPr>
          <p:nvPr/>
        </p:nvSpPr>
        <p:spPr bwMode="auto">
          <a:xfrm>
            <a:off x="6165901" y="5362405"/>
            <a:ext cx="468001" cy="135378"/>
          </a:xfrm>
          <a:prstGeom prst="roundRect">
            <a:avLst>
              <a:gd name="adj" fmla="val 8776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MORE</a:t>
            </a:r>
          </a:p>
        </p:txBody>
      </p:sp>
      <p:sp>
        <p:nvSpPr>
          <p:cNvPr id="25" name="Label">
            <a:extLst>
              <a:ext uri="{FF2B5EF4-FFF2-40B4-BE49-F238E27FC236}">
                <a16:creationId xmlns:a16="http://schemas.microsoft.com/office/drawing/2014/main" id="{AB0EF4C2-D959-2031-863A-3A754D45EE8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31993" y="5239235"/>
            <a:ext cx="4603160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b="1" dirty="0">
                <a:solidFill>
                  <a:schemeClr val="accent5">
                    <a:lumMod val="75000"/>
                  </a:schemeClr>
                </a:solidFill>
                <a:latin typeface="+mn-ea"/>
                <a:cs typeface="Segoe UI" panose="020B0502040204020203" pitchFamily="34" charset="0"/>
              </a:rPr>
              <a:t>||</a:t>
            </a:r>
            <a:r>
              <a: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최근 등록 </a:t>
            </a:r>
            <a:r>
              <a:rPr lang="ko-KR" altLang="en-US" sz="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목록</a:t>
            </a:r>
            <a:endParaRPr lang="en-US" altLang="ko-KR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7BB964FA-81A2-66C9-CF6E-1AC2AA8FB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13" y="7153726"/>
            <a:ext cx="6509392" cy="5233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831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FCA2586F-EA3C-E71A-6D3D-0FD62D1A65E5}"/>
              </a:ext>
            </a:extLst>
          </p:cNvPr>
          <p:cNvSpPr/>
          <p:nvPr/>
        </p:nvSpPr>
        <p:spPr bwMode="auto">
          <a:xfrm>
            <a:off x="1633694" y="7262203"/>
            <a:ext cx="4079643" cy="323165"/>
          </a:xfrm>
          <a:prstGeom prst="flowChartProcess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 latinLnBrk="0">
              <a:defRPr/>
            </a:pPr>
            <a:r>
              <a:rPr lang="ko-KR" altLang="en-US" sz="700" dirty="0"/>
              <a:t>서비스약관</a:t>
            </a:r>
            <a:r>
              <a:rPr lang="en-US" altLang="ko-KR" sz="700" dirty="0"/>
              <a:t> |  </a:t>
            </a:r>
            <a:r>
              <a:rPr lang="ko-KR" altLang="en-US" sz="700" dirty="0"/>
              <a:t>개인정보처리방침</a:t>
            </a:r>
            <a:r>
              <a:rPr lang="en-US" altLang="ko-KR" sz="700" dirty="0"/>
              <a:t> | </a:t>
            </a:r>
            <a:r>
              <a:rPr lang="ko-KR" altLang="en-US" sz="700" dirty="0"/>
              <a:t>저작권정책</a:t>
            </a:r>
            <a:r>
              <a:rPr lang="en-US" altLang="ko-KR" sz="700" dirty="0"/>
              <a:t> | </a:t>
            </a:r>
            <a:r>
              <a:rPr lang="ko-KR" altLang="en-US" sz="700" dirty="0"/>
              <a:t>오류신고</a:t>
            </a:r>
            <a:endParaRPr lang="en-US" altLang="ko-KR" sz="700" dirty="0"/>
          </a:p>
          <a:p>
            <a:pPr algn="ctr" latinLnBrk="0">
              <a:defRPr/>
            </a:pPr>
            <a:r>
              <a:rPr lang="en-US" altLang="ko-KR" sz="700" dirty="0"/>
              <a:t>(00000) </a:t>
            </a:r>
            <a:r>
              <a:rPr lang="ko-KR" altLang="en-US" sz="700" dirty="0"/>
              <a:t>서울특별시 서초구 </a:t>
            </a:r>
            <a:r>
              <a:rPr lang="ko-KR" altLang="en-US" sz="700" dirty="0" err="1"/>
              <a:t>원신동</a:t>
            </a:r>
            <a:r>
              <a:rPr lang="ko-KR" altLang="en-US" sz="700" dirty="0"/>
              <a:t> </a:t>
            </a:r>
            <a:r>
              <a:rPr lang="en-US" altLang="ko-KR" sz="700" dirty="0"/>
              <a:t>xx</a:t>
            </a:r>
            <a:r>
              <a:rPr lang="ko-KR" altLang="en-US" sz="700" dirty="0"/>
              <a:t>대로 </a:t>
            </a:r>
            <a:r>
              <a:rPr lang="en-US" altLang="ko-KR" sz="700" dirty="0"/>
              <a:t>21 </a:t>
            </a:r>
            <a:r>
              <a:rPr lang="en-US" altLang="ko-KR" sz="700" dirty="0" err="1"/>
              <a:t>xxxxx</a:t>
            </a:r>
            <a:r>
              <a:rPr lang="en-US" altLang="ko-KR" sz="700" dirty="0"/>
              <a:t>   </a:t>
            </a:r>
            <a:r>
              <a:rPr lang="ko-KR" altLang="en-US" sz="700" dirty="0"/>
              <a:t>☎ 대표 전화 </a:t>
            </a:r>
            <a:r>
              <a:rPr lang="en-US" altLang="ko-KR" sz="700" dirty="0"/>
              <a:t>02-xxx-xxxx </a:t>
            </a:r>
            <a:r>
              <a:rPr lang="ko-KR" altLang="en-US" sz="700" dirty="0"/>
              <a:t>대표 팩스 </a:t>
            </a:r>
            <a:r>
              <a:rPr lang="en-US" altLang="ko-KR" sz="700" dirty="0"/>
              <a:t>02-xxx-xxxx</a:t>
            </a:r>
          </a:p>
          <a:p>
            <a:pPr algn="ctr" latinLnBrk="0">
              <a:defRPr/>
            </a:pPr>
            <a:r>
              <a:rPr lang="en-US" altLang="ko-KR" sz="700" kern="0" dirty="0">
                <a:latin typeface="맑은 고딕" pitchFamily="50" charset="-127"/>
                <a:ea typeface="맑은 고딕" pitchFamily="50" charset="-127"/>
              </a:rPr>
              <a:t>Copyright</a:t>
            </a: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ⓒ </a:t>
            </a:r>
            <a:r>
              <a:rPr lang="en-US" altLang="ko-KR" sz="700" kern="0" dirty="0">
                <a:latin typeface="맑은 고딕" pitchFamily="50" charset="-127"/>
                <a:ea typeface="맑은 고딕" pitchFamily="50" charset="-127"/>
              </a:rPr>
              <a:t>2025 GEO-MATICS Co., Ltd..</a:t>
            </a: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kern="0" dirty="0">
                <a:latin typeface="맑은 고딕" pitchFamily="50" charset="-127"/>
                <a:ea typeface="맑은 고딕" pitchFamily="50" charset="-127"/>
              </a:rPr>
              <a:t>All</a:t>
            </a: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kern="0" dirty="0">
                <a:latin typeface="맑은 고딕" pitchFamily="50" charset="-127"/>
                <a:ea typeface="맑은 고딕" pitchFamily="50" charset="-127"/>
              </a:rPr>
              <a:t>rights Reserved.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82822FA-00C2-76B8-B1AC-3738D82EA2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477" y="7245814"/>
            <a:ext cx="711887" cy="35594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A08B089-CA7F-861C-8476-BB017C5207EC}"/>
              </a:ext>
            </a:extLst>
          </p:cNvPr>
          <p:cNvSpPr/>
          <p:nvPr/>
        </p:nvSpPr>
        <p:spPr>
          <a:xfrm>
            <a:off x="6088852" y="3446085"/>
            <a:ext cx="552252" cy="234561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03EA3C6-23AB-4081-5223-D453484AEF12}"/>
              </a:ext>
            </a:extLst>
          </p:cNvPr>
          <p:cNvSpPr/>
          <p:nvPr/>
        </p:nvSpPr>
        <p:spPr>
          <a:xfrm>
            <a:off x="5955138" y="3342537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60A13E-AAF6-4C42-3C68-4B1A63DD356C}"/>
              </a:ext>
            </a:extLst>
          </p:cNvPr>
          <p:cNvSpPr/>
          <p:nvPr/>
        </p:nvSpPr>
        <p:spPr>
          <a:xfrm>
            <a:off x="128685" y="5534479"/>
            <a:ext cx="6595420" cy="1556253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2FF0DD8-94B5-CC16-E115-860317311F33}"/>
              </a:ext>
            </a:extLst>
          </p:cNvPr>
          <p:cNvSpPr/>
          <p:nvPr/>
        </p:nvSpPr>
        <p:spPr>
          <a:xfrm>
            <a:off x="5713337" y="5428950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46188F3-6FFB-DC59-2A18-073258B2E8F4}"/>
              </a:ext>
            </a:extLst>
          </p:cNvPr>
          <p:cNvSpPr/>
          <p:nvPr/>
        </p:nvSpPr>
        <p:spPr>
          <a:xfrm>
            <a:off x="6088852" y="5299968"/>
            <a:ext cx="552252" cy="234561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CFECD8A-DC47-1ED4-EE81-1D35237F0EAF}"/>
              </a:ext>
            </a:extLst>
          </p:cNvPr>
          <p:cNvSpPr/>
          <p:nvPr/>
        </p:nvSpPr>
        <p:spPr>
          <a:xfrm>
            <a:off x="5955138" y="5117154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472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5F2DA-75A4-4DD2-AB19-999726A6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4">
            <a:extLst>
              <a:ext uri="{FF2B5EF4-FFF2-40B4-BE49-F238E27FC236}">
                <a16:creationId xmlns:a16="http://schemas.microsoft.com/office/drawing/2014/main" id="{932515B4-3E07-8E47-B4F2-26C9B84B5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3" y="628775"/>
            <a:ext cx="6695793" cy="595224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924" dirty="0">
                <a:latin typeface="HDCardLight" pitchFamily="50" charset="-127"/>
                <a:ea typeface="HDCardLight" pitchFamily="50" charset="-127"/>
              </a:rPr>
              <a:t> </a:t>
            </a:r>
            <a:endParaRPr lang="ko-KR" altLang="en-US" sz="924" dirty="0">
              <a:latin typeface="HDCardLight" pitchFamily="50" charset="-127"/>
              <a:ea typeface="HDCardLight" pitchFamily="50" charset="-127"/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E87A982D-E9C9-722C-23AF-18DFB8F83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435295"/>
              </p:ext>
            </p:extLst>
          </p:nvPr>
        </p:nvGraphicFramePr>
        <p:xfrm>
          <a:off x="6948263" y="548680"/>
          <a:ext cx="2160242" cy="3621096"/>
        </p:xfrm>
        <a:graphic>
          <a:graphicData uri="http://schemas.openxmlformats.org/drawingml/2006/table">
            <a:tbl>
              <a:tblPr firstRow="1" bandRow="1"/>
              <a:tblGrid>
                <a:gridCol w="288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4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시스템명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7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화면 및 기능설명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kern="1200" dirty="0">
                        <a:solidFill>
                          <a:srgbClr val="333333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토지정밀대장 조회의 주소 검색 기능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주소 자동 검색 목록 창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최근열람 목록 창</a:t>
                      </a:r>
                      <a:b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최근열람 클릭 시 검색된 주소 목록 보임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315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645768"/>
                  </a:ext>
                </a:extLst>
              </a:tr>
              <a:tr h="12762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71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28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6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616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90162"/>
                  </a:ext>
                </a:extLst>
              </a:tr>
              <a:tr h="313632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174385"/>
                  </a:ext>
                </a:extLst>
              </a:tr>
              <a:tr h="23522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0270"/>
                  </a:ext>
                </a:extLst>
              </a:tr>
              <a:tr h="15681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19153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0112811F-EFBE-EE83-5D06-51945CBDF93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6" b="5645"/>
          <a:stretch>
            <a:fillRect/>
          </a:stretch>
        </p:blipFill>
        <p:spPr>
          <a:xfrm>
            <a:off x="61464" y="1447544"/>
            <a:ext cx="6662641" cy="1844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519337-89A0-C167-C7A8-68272F5E5FAC}"/>
              </a:ext>
            </a:extLst>
          </p:cNvPr>
          <p:cNvSpPr txBox="1"/>
          <p:nvPr/>
        </p:nvSpPr>
        <p:spPr>
          <a:xfrm>
            <a:off x="2323378" y="1069910"/>
            <a:ext cx="3184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시유재산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소개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토지정밀대장 조회   데이터 관리   게시판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76C6BF4-945C-073B-FE00-11CE80FFC637}"/>
              </a:ext>
            </a:extLst>
          </p:cNvPr>
          <p:cNvCxnSpPr/>
          <p:nvPr/>
        </p:nvCxnSpPr>
        <p:spPr>
          <a:xfrm>
            <a:off x="355818" y="929509"/>
            <a:ext cx="60701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utton">
            <a:extLst>
              <a:ext uri="{FF2B5EF4-FFF2-40B4-BE49-F238E27FC236}">
                <a16:creationId xmlns:a16="http://schemas.microsoft.com/office/drawing/2014/main" id="{D044C19A-8E4A-BC8E-86A7-0B9D5A2C6113}"/>
              </a:ext>
            </a:extLst>
          </p:cNvPr>
          <p:cNvSpPr>
            <a:spLocks/>
          </p:cNvSpPr>
          <p:nvPr/>
        </p:nvSpPr>
        <p:spPr bwMode="auto">
          <a:xfrm>
            <a:off x="5536727" y="1080457"/>
            <a:ext cx="865894" cy="218029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시유재산</a:t>
            </a:r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 지도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8" name="Button">
            <a:extLst>
              <a:ext uri="{FF2B5EF4-FFF2-40B4-BE49-F238E27FC236}">
                <a16:creationId xmlns:a16="http://schemas.microsoft.com/office/drawing/2014/main" id="{AFA471F8-2920-D93C-0217-69AFF2D0AEBD}"/>
              </a:ext>
            </a:extLst>
          </p:cNvPr>
          <p:cNvSpPr>
            <a:spLocks/>
          </p:cNvSpPr>
          <p:nvPr/>
        </p:nvSpPr>
        <p:spPr bwMode="auto">
          <a:xfrm>
            <a:off x="6043604" y="710091"/>
            <a:ext cx="351615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로그인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9" name="Button">
            <a:extLst>
              <a:ext uri="{FF2B5EF4-FFF2-40B4-BE49-F238E27FC236}">
                <a16:creationId xmlns:a16="http://schemas.microsoft.com/office/drawing/2014/main" id="{5AEB17FA-6362-2E5E-2A77-79C16D88A7C9}"/>
              </a:ext>
            </a:extLst>
          </p:cNvPr>
          <p:cNvSpPr>
            <a:spLocks/>
          </p:cNvSpPr>
          <p:nvPr/>
        </p:nvSpPr>
        <p:spPr bwMode="auto">
          <a:xfrm>
            <a:off x="5536726" y="710091"/>
            <a:ext cx="468001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회원가입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0" name="Label">
            <a:extLst>
              <a:ext uri="{FF2B5EF4-FFF2-40B4-BE49-F238E27FC236}">
                <a16:creationId xmlns:a16="http://schemas.microsoft.com/office/drawing/2014/main" id="{1DF69E7F-BA4A-BBD0-761D-5B097E42CDE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291" y="212577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6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6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Label">
            <a:extLst>
              <a:ext uri="{FF2B5EF4-FFF2-40B4-BE49-F238E27FC236}">
                <a16:creationId xmlns:a16="http://schemas.microsoft.com/office/drawing/2014/main" id="{208BDAB8-1585-B934-5AE2-60B35FB2092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6689" y="2488811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서울시가 보유한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시유재산의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위치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용도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활용 현황 등을 한눈에 확인할 수 있는 플랫폼 입니다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77ED874-C3CC-E5A1-D417-8E2F23FE3FD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" y="662157"/>
            <a:ext cx="787232" cy="212474"/>
          </a:xfrm>
          <a:prstGeom prst="rect">
            <a:avLst/>
          </a:prstGeom>
        </p:spPr>
      </p:pic>
      <p:sp>
        <p:nvSpPr>
          <p:cNvPr id="4" name="Label">
            <a:extLst>
              <a:ext uri="{FF2B5EF4-FFF2-40B4-BE49-F238E27FC236}">
                <a16:creationId xmlns:a16="http://schemas.microsoft.com/office/drawing/2014/main" id="{30DD0A02-7BFA-8342-E87B-295CAAE24D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432312" y="290131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토지정밀대장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조회</a:t>
            </a:r>
            <a:endParaRPr lang="en-US" sz="12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Label">
            <a:extLst>
              <a:ext uri="{FF2B5EF4-FFF2-40B4-BE49-F238E27FC236}">
                <a16:creationId xmlns:a16="http://schemas.microsoft.com/office/drawing/2014/main" id="{1914207A-1997-C4EC-6AA4-124A5709531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-1505711" y="1029718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D82CB0-BE7E-1A18-85CC-C16763CFF1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20" y="3329100"/>
            <a:ext cx="6589881" cy="9929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A254CDD-8F0B-038B-FFEA-812CDF7669ED}"/>
              </a:ext>
            </a:extLst>
          </p:cNvPr>
          <p:cNvSpPr/>
          <p:nvPr/>
        </p:nvSpPr>
        <p:spPr>
          <a:xfrm>
            <a:off x="336949" y="3753606"/>
            <a:ext cx="4046192" cy="385690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D4D260D-F208-0D94-881E-6D7EC533EF79}"/>
              </a:ext>
            </a:extLst>
          </p:cNvPr>
          <p:cNvSpPr/>
          <p:nvPr/>
        </p:nvSpPr>
        <p:spPr>
          <a:xfrm>
            <a:off x="4369954" y="3809674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84A826-7D51-4F5D-B379-9EAE9C3D85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64" y="4501306"/>
            <a:ext cx="6623437" cy="115864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1FB566-011A-FDB8-9EEB-5EBD59716870}"/>
              </a:ext>
            </a:extLst>
          </p:cNvPr>
          <p:cNvSpPr/>
          <p:nvPr/>
        </p:nvSpPr>
        <p:spPr>
          <a:xfrm>
            <a:off x="4287943" y="5015471"/>
            <a:ext cx="1037917" cy="150889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6325ACB-43D6-62B0-9526-5669362411B7}"/>
              </a:ext>
            </a:extLst>
          </p:cNvPr>
          <p:cNvSpPr/>
          <p:nvPr/>
        </p:nvSpPr>
        <p:spPr>
          <a:xfrm>
            <a:off x="5114802" y="4869570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F657E9-1528-5E54-E96C-85745D3A20C2}"/>
              </a:ext>
            </a:extLst>
          </p:cNvPr>
          <p:cNvSpPr/>
          <p:nvPr/>
        </p:nvSpPr>
        <p:spPr>
          <a:xfrm>
            <a:off x="355818" y="5166360"/>
            <a:ext cx="4970042" cy="145901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01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2A8B-FA7D-CB68-4B69-5C6B31379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4">
            <a:extLst>
              <a:ext uri="{FF2B5EF4-FFF2-40B4-BE49-F238E27FC236}">
                <a16:creationId xmlns:a16="http://schemas.microsoft.com/office/drawing/2014/main" id="{43D6053D-6B3F-1748-771A-7365E6712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04" y="620008"/>
            <a:ext cx="6695793" cy="595224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924" dirty="0">
                <a:latin typeface="HDCardLight" pitchFamily="50" charset="-127"/>
                <a:ea typeface="HDCardLight" pitchFamily="50" charset="-127"/>
              </a:rPr>
              <a:t> </a:t>
            </a:r>
            <a:endParaRPr lang="ko-KR" altLang="en-US" sz="924" dirty="0">
              <a:latin typeface="HDCardLight" pitchFamily="50" charset="-127"/>
              <a:ea typeface="HDCardLight" pitchFamily="50" charset="-127"/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BBFA32D4-2A72-FC34-BE1C-7B0F02AD1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037723"/>
              </p:ext>
            </p:extLst>
          </p:nvPr>
        </p:nvGraphicFramePr>
        <p:xfrm>
          <a:off x="6948263" y="548680"/>
          <a:ext cx="2160242" cy="3514416"/>
        </p:xfrm>
        <a:graphic>
          <a:graphicData uri="http://schemas.openxmlformats.org/drawingml/2006/table">
            <a:tbl>
              <a:tblPr firstRow="1" bandRow="1"/>
              <a:tblGrid>
                <a:gridCol w="288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4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시스템명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업무명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7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화면 및 기능설명</a:t>
                      </a:r>
                      <a:endParaRPr lang="ko-KR" altLang="en-US" sz="7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kern="1200" dirty="0">
                        <a:solidFill>
                          <a:srgbClr val="333333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700" b="0" kern="120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700" b="0" kern="12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토지정밀대장 조회의 주소 검색 기능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시도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시군구</a:t>
                      </a:r>
                      <a:r>
                        <a:rPr lang="en-US" altLang="ko-KR" sz="70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읍면동 선택 창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315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645768"/>
                  </a:ext>
                </a:extLst>
              </a:tr>
              <a:tr h="12762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71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28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6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616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90162"/>
                  </a:ext>
                </a:extLst>
              </a:tr>
              <a:tr h="313632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174385"/>
                  </a:ext>
                </a:extLst>
              </a:tr>
              <a:tr h="23522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0270"/>
                  </a:ext>
                </a:extLst>
              </a:tr>
              <a:tr h="15681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19153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E3314D61-82E0-B01D-FB42-09424C721F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6" b="5645"/>
          <a:stretch>
            <a:fillRect/>
          </a:stretch>
        </p:blipFill>
        <p:spPr>
          <a:xfrm>
            <a:off x="61464" y="1447544"/>
            <a:ext cx="6662641" cy="1844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EFBEFD-5228-682E-4AE0-D4FA80AA8490}"/>
              </a:ext>
            </a:extLst>
          </p:cNvPr>
          <p:cNvSpPr txBox="1"/>
          <p:nvPr/>
        </p:nvSpPr>
        <p:spPr>
          <a:xfrm>
            <a:off x="2323378" y="1069910"/>
            <a:ext cx="3184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시유재산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소개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토지정밀대장 조회   데이터 관리   게시판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122906E-0D99-8C64-06E2-889852DAC733}"/>
              </a:ext>
            </a:extLst>
          </p:cNvPr>
          <p:cNvCxnSpPr/>
          <p:nvPr/>
        </p:nvCxnSpPr>
        <p:spPr>
          <a:xfrm>
            <a:off x="355818" y="929509"/>
            <a:ext cx="60701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utton">
            <a:extLst>
              <a:ext uri="{FF2B5EF4-FFF2-40B4-BE49-F238E27FC236}">
                <a16:creationId xmlns:a16="http://schemas.microsoft.com/office/drawing/2014/main" id="{D01F0B8B-591A-48FC-3248-71C476BD463F}"/>
              </a:ext>
            </a:extLst>
          </p:cNvPr>
          <p:cNvSpPr>
            <a:spLocks/>
          </p:cNvSpPr>
          <p:nvPr/>
        </p:nvSpPr>
        <p:spPr bwMode="auto">
          <a:xfrm>
            <a:off x="5536727" y="1080457"/>
            <a:ext cx="865894" cy="218029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시유재산</a:t>
            </a:r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 지도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8" name="Button">
            <a:extLst>
              <a:ext uri="{FF2B5EF4-FFF2-40B4-BE49-F238E27FC236}">
                <a16:creationId xmlns:a16="http://schemas.microsoft.com/office/drawing/2014/main" id="{B98FCA7B-846D-D63D-4BAE-275DB68E4D6D}"/>
              </a:ext>
            </a:extLst>
          </p:cNvPr>
          <p:cNvSpPr>
            <a:spLocks/>
          </p:cNvSpPr>
          <p:nvPr/>
        </p:nvSpPr>
        <p:spPr bwMode="auto">
          <a:xfrm>
            <a:off x="6043604" y="710091"/>
            <a:ext cx="351615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로그인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9" name="Button">
            <a:extLst>
              <a:ext uri="{FF2B5EF4-FFF2-40B4-BE49-F238E27FC236}">
                <a16:creationId xmlns:a16="http://schemas.microsoft.com/office/drawing/2014/main" id="{D2B855B2-6530-B644-156F-123997C79DDE}"/>
              </a:ext>
            </a:extLst>
          </p:cNvPr>
          <p:cNvSpPr>
            <a:spLocks/>
          </p:cNvSpPr>
          <p:nvPr/>
        </p:nvSpPr>
        <p:spPr bwMode="auto">
          <a:xfrm>
            <a:off x="5536726" y="710091"/>
            <a:ext cx="468001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회원가입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0" name="Label">
            <a:extLst>
              <a:ext uri="{FF2B5EF4-FFF2-40B4-BE49-F238E27FC236}">
                <a16:creationId xmlns:a16="http://schemas.microsoft.com/office/drawing/2014/main" id="{DCE59640-5ACC-DC75-C1A2-1BC64AFD99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291" y="212577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6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6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Label">
            <a:extLst>
              <a:ext uri="{FF2B5EF4-FFF2-40B4-BE49-F238E27FC236}">
                <a16:creationId xmlns:a16="http://schemas.microsoft.com/office/drawing/2014/main" id="{CBB73582-B360-9817-B241-CC84C7FCD7E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6689" y="2488811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서울시가 보유한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시유재산의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위치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용도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활용 현황 등을 한눈에 확인할 수 있는 플랫폼 입니다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0EDCC67-3DB7-30D6-DBCE-1DDDFC195DF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" y="662157"/>
            <a:ext cx="787232" cy="212474"/>
          </a:xfrm>
          <a:prstGeom prst="rect">
            <a:avLst/>
          </a:prstGeom>
        </p:spPr>
      </p:pic>
      <p:sp>
        <p:nvSpPr>
          <p:cNvPr id="4" name="Label">
            <a:extLst>
              <a:ext uri="{FF2B5EF4-FFF2-40B4-BE49-F238E27FC236}">
                <a16:creationId xmlns:a16="http://schemas.microsoft.com/office/drawing/2014/main" id="{5CBAACCD-D9A1-B0A5-601D-DB361A69EC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432312" y="290131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토지정밀대장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조회</a:t>
            </a:r>
            <a:endParaRPr lang="en-US" sz="12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Label">
            <a:extLst>
              <a:ext uri="{FF2B5EF4-FFF2-40B4-BE49-F238E27FC236}">
                <a16:creationId xmlns:a16="http://schemas.microsoft.com/office/drawing/2014/main" id="{23D41D30-331F-6D2A-CB10-2AF3D644D98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-1505711" y="1029718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9C6112-0778-1450-852C-FC2432E9E6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949" y="3391368"/>
            <a:ext cx="5959242" cy="311968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E341D7F-7EF9-70E7-158D-48176565AF38}"/>
              </a:ext>
            </a:extLst>
          </p:cNvPr>
          <p:cNvSpPr/>
          <p:nvPr/>
        </p:nvSpPr>
        <p:spPr>
          <a:xfrm>
            <a:off x="546100" y="3983441"/>
            <a:ext cx="919056" cy="2527616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B17BE95-A14E-8CFF-11B7-F43206293815}"/>
              </a:ext>
            </a:extLst>
          </p:cNvPr>
          <p:cNvSpPr/>
          <p:nvPr/>
        </p:nvSpPr>
        <p:spPr>
          <a:xfrm>
            <a:off x="2072427" y="3670615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B2E55D-FBF2-0C35-B238-6B20346254C3}"/>
              </a:ext>
            </a:extLst>
          </p:cNvPr>
          <p:cNvSpPr/>
          <p:nvPr/>
        </p:nvSpPr>
        <p:spPr>
          <a:xfrm>
            <a:off x="1543051" y="3983441"/>
            <a:ext cx="847812" cy="205257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D56EED-E685-491B-C017-41AFFD2A169C}"/>
              </a:ext>
            </a:extLst>
          </p:cNvPr>
          <p:cNvSpPr/>
          <p:nvPr/>
        </p:nvSpPr>
        <p:spPr>
          <a:xfrm>
            <a:off x="2468758" y="3983441"/>
            <a:ext cx="847812" cy="205257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164108-927F-50D2-8A38-D62AAA5E1CA1}"/>
              </a:ext>
            </a:extLst>
          </p:cNvPr>
          <p:cNvSpPr/>
          <p:nvPr/>
        </p:nvSpPr>
        <p:spPr>
          <a:xfrm>
            <a:off x="3365098" y="3983441"/>
            <a:ext cx="787802" cy="205257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77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B5A6-C548-A36F-C6BD-66B31D1B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4">
            <a:extLst>
              <a:ext uri="{FF2B5EF4-FFF2-40B4-BE49-F238E27FC236}">
                <a16:creationId xmlns:a16="http://schemas.microsoft.com/office/drawing/2014/main" id="{B2E9B57D-4DD5-158C-8D2A-F76BE0456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04" y="620007"/>
            <a:ext cx="6695793" cy="3189796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924" dirty="0">
                <a:latin typeface="HDCardLight" pitchFamily="50" charset="-127"/>
                <a:ea typeface="HDCardLight" pitchFamily="50" charset="-127"/>
              </a:rPr>
              <a:t> </a:t>
            </a:r>
            <a:endParaRPr lang="ko-KR" altLang="en-US" sz="924" dirty="0">
              <a:latin typeface="HDCardLight" pitchFamily="50" charset="-127"/>
              <a:ea typeface="HDCardLight" pitchFamily="50" charset="-127"/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ACCDE4-81DC-A6D2-23B7-258F28868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401333"/>
              </p:ext>
            </p:extLst>
          </p:nvPr>
        </p:nvGraphicFramePr>
        <p:xfrm>
          <a:off x="6948263" y="548680"/>
          <a:ext cx="2160242" cy="3834456"/>
        </p:xfrm>
        <a:graphic>
          <a:graphicData uri="http://schemas.openxmlformats.org/drawingml/2006/table">
            <a:tbl>
              <a:tblPr firstRow="1" bandRow="1"/>
              <a:tblGrid>
                <a:gridCol w="288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4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시스템명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7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화면 및 기능설명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kern="1200" dirty="0">
                        <a:solidFill>
                          <a:srgbClr val="333333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토지정밀대장 조회 및 상세화면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검색 목록 출력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검색 목록 클릭 후 상세정보 출력</a:t>
                      </a:r>
                      <a:b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상세정보 클릭 하면 목록 아래에 상세정보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도면 크게 보기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팝업창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b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팝업창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클릭 시 팝업 화면으로 출력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315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645768"/>
                  </a:ext>
                </a:extLst>
              </a:tr>
              <a:tr h="12762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71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28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6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616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90162"/>
                  </a:ext>
                </a:extLst>
              </a:tr>
              <a:tr h="313632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174385"/>
                  </a:ext>
                </a:extLst>
              </a:tr>
              <a:tr h="23522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0270"/>
                  </a:ext>
                </a:extLst>
              </a:tr>
              <a:tr h="15681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19153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351075C7-9DDB-5C05-1322-ECC7B08CEC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6" b="5645"/>
          <a:stretch>
            <a:fillRect/>
          </a:stretch>
        </p:blipFill>
        <p:spPr>
          <a:xfrm>
            <a:off x="61464" y="1447544"/>
            <a:ext cx="6662641" cy="1844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232BAB-FFCC-1398-4A89-0C0AA9C1224E}"/>
              </a:ext>
            </a:extLst>
          </p:cNvPr>
          <p:cNvSpPr txBox="1"/>
          <p:nvPr/>
        </p:nvSpPr>
        <p:spPr>
          <a:xfrm>
            <a:off x="2323378" y="1069910"/>
            <a:ext cx="3184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시유재산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소개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토지정밀대장 조회   데이터 관리   게시판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3673AAC-BC7D-BDAC-DEF3-A3BA7418D3B4}"/>
              </a:ext>
            </a:extLst>
          </p:cNvPr>
          <p:cNvCxnSpPr/>
          <p:nvPr/>
        </p:nvCxnSpPr>
        <p:spPr>
          <a:xfrm>
            <a:off x="355818" y="929509"/>
            <a:ext cx="60701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utton">
            <a:extLst>
              <a:ext uri="{FF2B5EF4-FFF2-40B4-BE49-F238E27FC236}">
                <a16:creationId xmlns:a16="http://schemas.microsoft.com/office/drawing/2014/main" id="{FDBF75B6-3016-BA4D-0084-5C3B8099CB18}"/>
              </a:ext>
            </a:extLst>
          </p:cNvPr>
          <p:cNvSpPr>
            <a:spLocks/>
          </p:cNvSpPr>
          <p:nvPr/>
        </p:nvSpPr>
        <p:spPr bwMode="auto">
          <a:xfrm>
            <a:off x="5536727" y="1080457"/>
            <a:ext cx="865894" cy="218029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시유재산</a:t>
            </a:r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 지도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8" name="Button">
            <a:extLst>
              <a:ext uri="{FF2B5EF4-FFF2-40B4-BE49-F238E27FC236}">
                <a16:creationId xmlns:a16="http://schemas.microsoft.com/office/drawing/2014/main" id="{15657111-6656-8D32-4E7B-C84161BAB15A}"/>
              </a:ext>
            </a:extLst>
          </p:cNvPr>
          <p:cNvSpPr>
            <a:spLocks/>
          </p:cNvSpPr>
          <p:nvPr/>
        </p:nvSpPr>
        <p:spPr bwMode="auto">
          <a:xfrm>
            <a:off x="6043604" y="710091"/>
            <a:ext cx="351615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로그인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9" name="Button">
            <a:extLst>
              <a:ext uri="{FF2B5EF4-FFF2-40B4-BE49-F238E27FC236}">
                <a16:creationId xmlns:a16="http://schemas.microsoft.com/office/drawing/2014/main" id="{7CD952EE-FDB4-0B12-2120-B6BB18B7B66E}"/>
              </a:ext>
            </a:extLst>
          </p:cNvPr>
          <p:cNvSpPr>
            <a:spLocks/>
          </p:cNvSpPr>
          <p:nvPr/>
        </p:nvSpPr>
        <p:spPr bwMode="auto">
          <a:xfrm>
            <a:off x="5536726" y="710091"/>
            <a:ext cx="468001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회원가입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0" name="Label">
            <a:extLst>
              <a:ext uri="{FF2B5EF4-FFF2-40B4-BE49-F238E27FC236}">
                <a16:creationId xmlns:a16="http://schemas.microsoft.com/office/drawing/2014/main" id="{905FC4CB-6FDE-4D9B-5140-A6CFD4CDED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291" y="212577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6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6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Label">
            <a:extLst>
              <a:ext uri="{FF2B5EF4-FFF2-40B4-BE49-F238E27FC236}">
                <a16:creationId xmlns:a16="http://schemas.microsoft.com/office/drawing/2014/main" id="{CB6996AB-0DD3-EC97-FA95-E0A0439F5C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6689" y="2488811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서울시가 보유한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시유재산의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위치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용도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활용 현황 등을 한눈에 확인할 수 있는 플랫폼 입니다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1F08B1D-F558-258B-ED7F-64F2A579EEC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" y="662157"/>
            <a:ext cx="787232" cy="212474"/>
          </a:xfrm>
          <a:prstGeom prst="rect">
            <a:avLst/>
          </a:prstGeom>
        </p:spPr>
      </p:pic>
      <p:sp>
        <p:nvSpPr>
          <p:cNvPr id="4" name="Label">
            <a:extLst>
              <a:ext uri="{FF2B5EF4-FFF2-40B4-BE49-F238E27FC236}">
                <a16:creationId xmlns:a16="http://schemas.microsoft.com/office/drawing/2014/main" id="{5C158BB4-B3B3-5850-DE2B-DC0BBD154F3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432312" y="290131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토지정밀대장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조회</a:t>
            </a:r>
            <a:endParaRPr lang="en-US" sz="12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Label">
            <a:extLst>
              <a:ext uri="{FF2B5EF4-FFF2-40B4-BE49-F238E27FC236}">
                <a16:creationId xmlns:a16="http://schemas.microsoft.com/office/drawing/2014/main" id="{49A668B8-08FA-2FD2-BC1D-03E4A8C5F9C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-1505711" y="1029718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F8D394-39FB-EC96-32CC-BD2420CA9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89" y="3313816"/>
            <a:ext cx="6644377" cy="1844096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31056666-2886-538B-220A-C716BD3BF665}"/>
              </a:ext>
            </a:extLst>
          </p:cNvPr>
          <p:cNvSpPr/>
          <p:nvPr/>
        </p:nvSpPr>
        <p:spPr>
          <a:xfrm>
            <a:off x="211337" y="4564474"/>
            <a:ext cx="6408538" cy="540926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5F24544-AE6F-CF8A-A818-F93E0C95C0BD}"/>
              </a:ext>
            </a:extLst>
          </p:cNvPr>
          <p:cNvSpPr/>
          <p:nvPr/>
        </p:nvSpPr>
        <p:spPr>
          <a:xfrm>
            <a:off x="1153091" y="4458945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06908E-B94A-736A-5E86-6C6667E2A8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21" y="5540847"/>
            <a:ext cx="6533754" cy="82208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602013D-575D-5EC2-C62D-053C3B40D4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71" y="13994022"/>
            <a:ext cx="6533754" cy="90540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D3358E7-FD49-1BDB-2799-D0CAD564F0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066" y="23349377"/>
            <a:ext cx="6524229" cy="916860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F2B49826-41DE-2EC2-1E8E-73AFDEC8663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1713" t="1186" b="89794"/>
          <a:stretch>
            <a:fillRect/>
          </a:stretch>
        </p:blipFill>
        <p:spPr>
          <a:xfrm>
            <a:off x="131382" y="5323359"/>
            <a:ext cx="6583984" cy="248235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2D2F879-1083-12FB-BC24-85F6C18533AE}"/>
              </a:ext>
            </a:extLst>
          </p:cNvPr>
          <p:cNvSpPr/>
          <p:nvPr/>
        </p:nvSpPr>
        <p:spPr>
          <a:xfrm>
            <a:off x="-24502" y="5263440"/>
            <a:ext cx="6644377" cy="26953194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B23BBCF8-7BBB-CFBC-5B28-011F5717FA38}"/>
              </a:ext>
            </a:extLst>
          </p:cNvPr>
          <p:cNvSpPr/>
          <p:nvPr/>
        </p:nvSpPr>
        <p:spPr>
          <a:xfrm>
            <a:off x="1153091" y="5157912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CF19F76-78AB-BED7-E6A0-496ECCD585D9}"/>
              </a:ext>
            </a:extLst>
          </p:cNvPr>
          <p:cNvSpPr/>
          <p:nvPr/>
        </p:nvSpPr>
        <p:spPr>
          <a:xfrm>
            <a:off x="168216" y="5323360"/>
            <a:ext cx="668075" cy="208659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E4FC21B9-C847-9298-3E3C-11E8BBBC2119}"/>
              </a:ext>
            </a:extLst>
          </p:cNvPr>
          <p:cNvSpPr/>
          <p:nvPr/>
        </p:nvSpPr>
        <p:spPr>
          <a:xfrm>
            <a:off x="729366" y="5462422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605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A447-2CC6-775C-771B-20F89424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4">
            <a:extLst>
              <a:ext uri="{FF2B5EF4-FFF2-40B4-BE49-F238E27FC236}">
                <a16:creationId xmlns:a16="http://schemas.microsoft.com/office/drawing/2014/main" id="{8456CFEF-CF71-F843-9B6D-342623CC1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04" y="620008"/>
            <a:ext cx="6695793" cy="862891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924" dirty="0">
                <a:latin typeface="HDCardLight" pitchFamily="50" charset="-127"/>
                <a:ea typeface="HDCardLight" pitchFamily="50" charset="-127"/>
              </a:rPr>
              <a:t> </a:t>
            </a:r>
            <a:endParaRPr lang="ko-KR" altLang="en-US" sz="924" dirty="0">
              <a:latin typeface="HDCardLight" pitchFamily="50" charset="-127"/>
              <a:ea typeface="HDCardLight" pitchFamily="50" charset="-127"/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A0AF25E2-A461-A392-B36A-706FA53D9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095661"/>
              </p:ext>
            </p:extLst>
          </p:nvPr>
        </p:nvGraphicFramePr>
        <p:xfrm>
          <a:off x="6948263" y="548680"/>
          <a:ext cx="2160242" cy="3621096"/>
        </p:xfrm>
        <a:graphic>
          <a:graphicData uri="http://schemas.openxmlformats.org/drawingml/2006/table">
            <a:tbl>
              <a:tblPr firstRow="1" bandRow="1"/>
              <a:tblGrid>
                <a:gridCol w="288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4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시스템명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7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화면 및 기능설명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kern="1200" dirty="0">
                        <a:solidFill>
                          <a:srgbClr val="333333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토지정밀대장 조회 및 도면 크게 보기 팝업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도면 크게 보기 버튼 클릭 시 </a:t>
                      </a:r>
                      <a:r>
                        <a:rPr lang="ko-KR" altLang="en-US" sz="7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팝업창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b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팝업창에 스크롤바로 내용 출력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315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645768"/>
                  </a:ext>
                </a:extLst>
              </a:tr>
              <a:tr h="12762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71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28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6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616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90162"/>
                  </a:ext>
                </a:extLst>
              </a:tr>
              <a:tr h="313632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174385"/>
                  </a:ext>
                </a:extLst>
              </a:tr>
              <a:tr h="23522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0270"/>
                  </a:ext>
                </a:extLst>
              </a:tr>
              <a:tr h="15681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19153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76B59F62-BBB6-0CFC-0551-CD210475F4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6" b="5645"/>
          <a:stretch>
            <a:fillRect/>
          </a:stretch>
        </p:blipFill>
        <p:spPr>
          <a:xfrm>
            <a:off x="61464" y="1447544"/>
            <a:ext cx="6662641" cy="1844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5E2A40-7C42-B5E5-E868-B68B1CB30217}"/>
              </a:ext>
            </a:extLst>
          </p:cNvPr>
          <p:cNvSpPr txBox="1"/>
          <p:nvPr/>
        </p:nvSpPr>
        <p:spPr>
          <a:xfrm>
            <a:off x="2323378" y="1069910"/>
            <a:ext cx="3184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시유재산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소개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토지정밀대장 조회   데이터 관리   게시판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0EA7659-6B1E-B1E0-8197-9D17D1857ECA}"/>
              </a:ext>
            </a:extLst>
          </p:cNvPr>
          <p:cNvCxnSpPr/>
          <p:nvPr/>
        </p:nvCxnSpPr>
        <p:spPr>
          <a:xfrm>
            <a:off x="355818" y="929509"/>
            <a:ext cx="60701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utton">
            <a:extLst>
              <a:ext uri="{FF2B5EF4-FFF2-40B4-BE49-F238E27FC236}">
                <a16:creationId xmlns:a16="http://schemas.microsoft.com/office/drawing/2014/main" id="{DB62D6E4-5C4A-677E-7BA4-68544498E28D}"/>
              </a:ext>
            </a:extLst>
          </p:cNvPr>
          <p:cNvSpPr>
            <a:spLocks/>
          </p:cNvSpPr>
          <p:nvPr/>
        </p:nvSpPr>
        <p:spPr bwMode="auto">
          <a:xfrm>
            <a:off x="5536727" y="1080457"/>
            <a:ext cx="865894" cy="218029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시유재산</a:t>
            </a:r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 지도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8" name="Button">
            <a:extLst>
              <a:ext uri="{FF2B5EF4-FFF2-40B4-BE49-F238E27FC236}">
                <a16:creationId xmlns:a16="http://schemas.microsoft.com/office/drawing/2014/main" id="{4A7CF799-42E6-1161-0D95-BA5DB2E72B87}"/>
              </a:ext>
            </a:extLst>
          </p:cNvPr>
          <p:cNvSpPr>
            <a:spLocks/>
          </p:cNvSpPr>
          <p:nvPr/>
        </p:nvSpPr>
        <p:spPr bwMode="auto">
          <a:xfrm>
            <a:off x="6043604" y="710091"/>
            <a:ext cx="351615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로그인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9" name="Button">
            <a:extLst>
              <a:ext uri="{FF2B5EF4-FFF2-40B4-BE49-F238E27FC236}">
                <a16:creationId xmlns:a16="http://schemas.microsoft.com/office/drawing/2014/main" id="{CA209C65-7AC2-BFB5-3283-3224FC4DA7B8}"/>
              </a:ext>
            </a:extLst>
          </p:cNvPr>
          <p:cNvSpPr>
            <a:spLocks/>
          </p:cNvSpPr>
          <p:nvPr/>
        </p:nvSpPr>
        <p:spPr bwMode="auto">
          <a:xfrm>
            <a:off x="5536726" y="710091"/>
            <a:ext cx="468001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회원가입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0" name="Label">
            <a:extLst>
              <a:ext uri="{FF2B5EF4-FFF2-40B4-BE49-F238E27FC236}">
                <a16:creationId xmlns:a16="http://schemas.microsoft.com/office/drawing/2014/main" id="{A431B39C-FA30-C573-97C4-2656329BE3B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291" y="212577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6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6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Label">
            <a:extLst>
              <a:ext uri="{FF2B5EF4-FFF2-40B4-BE49-F238E27FC236}">
                <a16:creationId xmlns:a16="http://schemas.microsoft.com/office/drawing/2014/main" id="{06943D54-2FF4-1F89-C1D0-3D9DE48C419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6689" y="2488811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서울시가 보유한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시유재산의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위치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용도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활용 현황 등을 한눈에 확인할 수 있는 플랫폼 입니다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C041108-D16F-91D7-FCD3-92DEA35AEAB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" y="662157"/>
            <a:ext cx="787232" cy="212474"/>
          </a:xfrm>
          <a:prstGeom prst="rect">
            <a:avLst/>
          </a:prstGeom>
        </p:spPr>
      </p:pic>
      <p:sp>
        <p:nvSpPr>
          <p:cNvPr id="4" name="Label">
            <a:extLst>
              <a:ext uri="{FF2B5EF4-FFF2-40B4-BE49-F238E27FC236}">
                <a16:creationId xmlns:a16="http://schemas.microsoft.com/office/drawing/2014/main" id="{D7098A8D-081B-8831-8F26-FBC685B4B5F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432312" y="290131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토지정밀대장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조회</a:t>
            </a:r>
            <a:endParaRPr lang="en-US" sz="12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Label">
            <a:extLst>
              <a:ext uri="{FF2B5EF4-FFF2-40B4-BE49-F238E27FC236}">
                <a16:creationId xmlns:a16="http://schemas.microsoft.com/office/drawing/2014/main" id="{2D346971-8E28-F9CB-E46E-BEC5E3D84E9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-1505711" y="1029718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03EEA8-DDEA-C639-A5EA-7E82C447BB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89" y="3313816"/>
            <a:ext cx="6644377" cy="184409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26201A9-BD3B-A3C2-0E57-6B6BD23C89C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713" t="1186" b="89794"/>
          <a:stretch>
            <a:fillRect/>
          </a:stretch>
        </p:blipFill>
        <p:spPr>
          <a:xfrm>
            <a:off x="131382" y="5323359"/>
            <a:ext cx="6583984" cy="248235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F702B81-AF2C-C329-2619-381AA975D56C}"/>
              </a:ext>
            </a:extLst>
          </p:cNvPr>
          <p:cNvSpPr/>
          <p:nvPr/>
        </p:nvSpPr>
        <p:spPr>
          <a:xfrm>
            <a:off x="38056" y="5117189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605E0A-EDDD-BA81-07AC-18121682F3C8}"/>
              </a:ext>
            </a:extLst>
          </p:cNvPr>
          <p:cNvSpPr/>
          <p:nvPr/>
        </p:nvSpPr>
        <p:spPr>
          <a:xfrm>
            <a:off x="168216" y="5323360"/>
            <a:ext cx="668075" cy="248234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FDEF6DF-01D2-B6AE-8384-12313D60C1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74" y="193820"/>
            <a:ext cx="5804107" cy="30072927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D2A7B5A3-C329-922D-3401-37EE1C054D31}"/>
              </a:ext>
            </a:extLst>
          </p:cNvPr>
          <p:cNvSpPr/>
          <p:nvPr/>
        </p:nvSpPr>
        <p:spPr bwMode="auto">
          <a:xfrm>
            <a:off x="960408" y="812944"/>
            <a:ext cx="5754958" cy="29295535"/>
          </a:xfrm>
          <a:prstGeom prst="rect">
            <a:avLst/>
          </a:prstGeom>
          <a:solidFill>
            <a:srgbClr val="F9F9F9"/>
          </a:solidFill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6800" tIns="10800" rIns="10800" bIns="10800" rtlCol="0" anchor="ctr" anchorCtr="0">
            <a:spAutoFit/>
          </a:bodyPr>
          <a:lstStyle/>
          <a:p>
            <a:pPr algn="ctr"/>
            <a:endParaRPr lang="ko-KR" altLang="en-US" sz="800" dirty="0">
              <a:solidFill>
                <a:schemeClr val="tx1"/>
              </a:solidFill>
              <a:cs typeface="Calibri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4339D40-CA69-787E-A8DB-7D7EDB26E265}"/>
              </a:ext>
            </a:extLst>
          </p:cNvPr>
          <p:cNvGrpSpPr/>
          <p:nvPr/>
        </p:nvGrpSpPr>
        <p:grpSpPr>
          <a:xfrm>
            <a:off x="1606944" y="866810"/>
            <a:ext cx="4449173" cy="29356444"/>
            <a:chOff x="-11590610" y="-1237250"/>
            <a:chExt cx="6531567" cy="430964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2ED0381-3FDB-D4B8-1288-7BA4933B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11590610" y="-1237250"/>
              <a:ext cx="6450730" cy="9332499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28174E27-8932-8360-F665-77D2ED94C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11549705" y="8188842"/>
              <a:ext cx="6382065" cy="9168600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036CE80B-F29F-DAD5-C7DE-0A33F34FF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11549705" y="17589789"/>
              <a:ext cx="6382065" cy="9317371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456C65A5-4FA1-7427-5A08-BCF0B2B09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11411561" y="27139507"/>
              <a:ext cx="6352518" cy="9741293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ADCBFF64-47BF-451B-B9A0-42653F2A2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11411561" y="37113147"/>
              <a:ext cx="6317492" cy="4746053"/>
            </a:xfrm>
            <a:prstGeom prst="rect">
              <a:avLst/>
            </a:prstGeom>
          </p:spPr>
        </p:pic>
      </p:grpSp>
      <p:pic>
        <p:nvPicPr>
          <p:cNvPr id="105" name="그림 104">
            <a:extLst>
              <a:ext uri="{FF2B5EF4-FFF2-40B4-BE49-F238E27FC236}">
                <a16:creationId xmlns:a16="http://schemas.microsoft.com/office/drawing/2014/main" id="{D1CF48B4-48F7-AF66-1A17-BCD0118E221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037" y="202669"/>
            <a:ext cx="5791792" cy="619125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9DC73061-AF99-B077-4FC6-036B802FF289}"/>
              </a:ext>
            </a:extLst>
          </p:cNvPr>
          <p:cNvSpPr/>
          <p:nvPr/>
        </p:nvSpPr>
        <p:spPr>
          <a:xfrm>
            <a:off x="938637" y="208144"/>
            <a:ext cx="5910407" cy="30067451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BC570D3B-6ADE-C388-FF31-8307ADFE9600}"/>
              </a:ext>
            </a:extLst>
          </p:cNvPr>
          <p:cNvCxnSpPr>
            <a:endCxn id="14" idx="1"/>
          </p:cNvCxnSpPr>
          <p:nvPr/>
        </p:nvCxnSpPr>
        <p:spPr>
          <a:xfrm rot="5400000" flipH="1" flipV="1">
            <a:off x="415602" y="4132018"/>
            <a:ext cx="1277992" cy="1104691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85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1AE5B-B0C7-9006-60E1-FE2D97C1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4">
            <a:extLst>
              <a:ext uri="{FF2B5EF4-FFF2-40B4-BE49-F238E27FC236}">
                <a16:creationId xmlns:a16="http://schemas.microsoft.com/office/drawing/2014/main" id="{A1C218F2-25A4-82A1-2834-17251FE99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04" y="620009"/>
            <a:ext cx="6695793" cy="6804248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924" dirty="0">
                <a:latin typeface="HDCardLight" pitchFamily="50" charset="-127"/>
                <a:ea typeface="HDCardLight" pitchFamily="50" charset="-127"/>
              </a:rPr>
              <a:t> </a:t>
            </a:r>
            <a:endParaRPr lang="ko-KR" altLang="en-US" sz="924" dirty="0">
              <a:latin typeface="HDCardLight" pitchFamily="50" charset="-127"/>
              <a:ea typeface="HDCardLight" pitchFamily="50" charset="-127"/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D76897FB-442E-C465-DD8B-6E454E474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222395"/>
              </p:ext>
            </p:extLst>
          </p:nvPr>
        </p:nvGraphicFramePr>
        <p:xfrm>
          <a:off x="6948263" y="548680"/>
          <a:ext cx="2160242" cy="3514416"/>
        </p:xfrm>
        <a:graphic>
          <a:graphicData uri="http://schemas.openxmlformats.org/drawingml/2006/table">
            <a:tbl>
              <a:tblPr firstRow="1" bandRow="1"/>
              <a:tblGrid>
                <a:gridCol w="288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4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시스템명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7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화면 및 기능설명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kern="1200" dirty="0">
                        <a:solidFill>
                          <a:srgbClr val="333333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kern="12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시유재산</a:t>
                      </a:r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 지도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시유재산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지도 화면 가기 버튼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주소 검색 창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현위치</a:t>
                      </a:r>
                      <a: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확대</a:t>
                      </a:r>
                      <a: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축소</a:t>
                      </a:r>
                      <a:r>
                        <a:rPr lang="en-US" altLang="ko-KR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거리재기</a:t>
                      </a: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315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645768"/>
                  </a:ext>
                </a:extLst>
              </a:tr>
              <a:tr h="127629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71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28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6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616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90162"/>
                  </a:ext>
                </a:extLst>
              </a:tr>
              <a:tr h="313632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174385"/>
                  </a:ext>
                </a:extLst>
              </a:tr>
              <a:tr h="23522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0270"/>
                  </a:ext>
                </a:extLst>
              </a:tr>
              <a:tr h="15681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19153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1F695A2F-890A-3EE9-3D2F-E5AD1F0A1F8C}"/>
              </a:ext>
            </a:extLst>
          </p:cNvPr>
          <p:cNvGrpSpPr/>
          <p:nvPr/>
        </p:nvGrpSpPr>
        <p:grpSpPr>
          <a:xfrm>
            <a:off x="131713" y="6822130"/>
            <a:ext cx="6509392" cy="523343"/>
            <a:chOff x="131713" y="6020983"/>
            <a:chExt cx="6509392" cy="523343"/>
          </a:xfrm>
        </p:grpSpPr>
        <p:sp>
          <p:nvSpPr>
            <p:cNvPr id="513" name="Rectangle 4">
              <a:extLst>
                <a:ext uri="{FF2B5EF4-FFF2-40B4-BE49-F238E27FC236}">
                  <a16:creationId xmlns:a16="http://schemas.microsoft.com/office/drawing/2014/main" id="{A8A34825-6145-5CBA-DEC6-2E52A47A7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13" y="6020983"/>
              <a:ext cx="6509392" cy="5233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831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5" name="순서도: 처리 514">
              <a:extLst>
                <a:ext uri="{FF2B5EF4-FFF2-40B4-BE49-F238E27FC236}">
                  <a16:creationId xmlns:a16="http://schemas.microsoft.com/office/drawing/2014/main" id="{7030ACE7-C802-F706-E81D-AB71798E89B2}"/>
                </a:ext>
              </a:extLst>
            </p:cNvPr>
            <p:cNvSpPr/>
            <p:nvPr/>
          </p:nvSpPr>
          <p:spPr bwMode="auto">
            <a:xfrm>
              <a:off x="1633694" y="6129460"/>
              <a:ext cx="4079643" cy="323165"/>
            </a:xfrm>
            <a:prstGeom prst="flowChartProcess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 latinLnBrk="0">
                <a:defRPr/>
              </a:pPr>
              <a:r>
                <a:rPr lang="ko-KR" altLang="en-US" sz="700" dirty="0"/>
                <a:t>서비스약관</a:t>
              </a:r>
              <a:r>
                <a:rPr lang="en-US" altLang="ko-KR" sz="700" dirty="0"/>
                <a:t> |  </a:t>
              </a:r>
              <a:r>
                <a:rPr lang="ko-KR" altLang="en-US" sz="700" dirty="0"/>
                <a:t>개인정보처리방침</a:t>
              </a:r>
              <a:r>
                <a:rPr lang="en-US" altLang="ko-KR" sz="700" dirty="0"/>
                <a:t> | </a:t>
              </a:r>
              <a:r>
                <a:rPr lang="ko-KR" altLang="en-US" sz="700" dirty="0"/>
                <a:t>저작권정책</a:t>
              </a:r>
              <a:r>
                <a:rPr lang="en-US" altLang="ko-KR" sz="700" dirty="0"/>
                <a:t> | </a:t>
              </a:r>
              <a:r>
                <a:rPr lang="ko-KR" altLang="en-US" sz="700" dirty="0"/>
                <a:t>오류신고</a:t>
              </a:r>
              <a:endParaRPr lang="en-US" altLang="ko-KR" sz="700" dirty="0"/>
            </a:p>
            <a:p>
              <a:pPr algn="ctr" latinLnBrk="0">
                <a:defRPr/>
              </a:pPr>
              <a:r>
                <a:rPr lang="en-US" altLang="ko-KR" sz="700" dirty="0"/>
                <a:t>(00000) </a:t>
              </a:r>
              <a:r>
                <a:rPr lang="ko-KR" altLang="en-US" sz="700" dirty="0"/>
                <a:t>서울특별시 서초구 </a:t>
              </a:r>
              <a:r>
                <a:rPr lang="ko-KR" altLang="en-US" sz="700" dirty="0" err="1"/>
                <a:t>원신동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xx</a:t>
              </a:r>
              <a:r>
                <a:rPr lang="ko-KR" altLang="en-US" sz="700" dirty="0"/>
                <a:t>대로 </a:t>
              </a:r>
              <a:r>
                <a:rPr lang="en-US" altLang="ko-KR" sz="700" dirty="0"/>
                <a:t>21 </a:t>
              </a:r>
              <a:r>
                <a:rPr lang="en-US" altLang="ko-KR" sz="700" dirty="0" err="1"/>
                <a:t>xxxxx</a:t>
              </a:r>
              <a:r>
                <a:rPr lang="en-US" altLang="ko-KR" sz="700" dirty="0"/>
                <a:t>   </a:t>
              </a:r>
              <a:r>
                <a:rPr lang="ko-KR" altLang="en-US" sz="700" dirty="0"/>
                <a:t>☎ 대표 전화 </a:t>
              </a:r>
              <a:r>
                <a:rPr lang="en-US" altLang="ko-KR" sz="700" dirty="0"/>
                <a:t>02-xxx-xxxx </a:t>
              </a:r>
              <a:r>
                <a:rPr lang="ko-KR" altLang="en-US" sz="700" dirty="0"/>
                <a:t>대표 팩스 </a:t>
              </a:r>
              <a:r>
                <a:rPr lang="en-US" altLang="ko-KR" sz="700" dirty="0"/>
                <a:t>02-xxx-xxxx</a:t>
              </a:r>
            </a:p>
            <a:p>
              <a:pPr algn="ctr" latinLnBrk="0">
                <a:defRPr/>
              </a:pPr>
              <a:r>
                <a:rPr lang="en-US" altLang="ko-KR" sz="700" kern="0" dirty="0">
                  <a:latin typeface="맑은 고딕" pitchFamily="50" charset="-127"/>
                  <a:ea typeface="맑은 고딕" pitchFamily="50" charset="-127"/>
                </a:rPr>
                <a:t>Copyright</a:t>
              </a: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ⓒ </a:t>
              </a:r>
              <a:r>
                <a:rPr lang="en-US" altLang="ko-KR" sz="700" kern="0" dirty="0">
                  <a:latin typeface="맑은 고딕" pitchFamily="50" charset="-127"/>
                  <a:ea typeface="맑은 고딕" pitchFamily="50" charset="-127"/>
                </a:rPr>
                <a:t>2025 GEO-MATICS Co., Ltd..</a:t>
              </a: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700" kern="0" dirty="0">
                  <a:latin typeface="맑은 고딕" pitchFamily="50" charset="-127"/>
                  <a:ea typeface="맑은 고딕" pitchFamily="50" charset="-127"/>
                </a:rPr>
                <a:t>All</a:t>
              </a: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700" kern="0" dirty="0">
                  <a:latin typeface="맑은 고딕" pitchFamily="50" charset="-127"/>
                  <a:ea typeface="맑은 고딕" pitchFamily="50" charset="-127"/>
                </a:rPr>
                <a:t>rights Reserved.</a:t>
              </a: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BE4308A-AE60-8642-314A-0D4486107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8477" y="6113071"/>
              <a:ext cx="711887" cy="355944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19FC005-9732-7240-A959-BDF839051772}"/>
              </a:ext>
            </a:extLst>
          </p:cNvPr>
          <p:cNvGrpSpPr/>
          <p:nvPr/>
        </p:nvGrpSpPr>
        <p:grpSpPr>
          <a:xfrm>
            <a:off x="125105" y="3346885"/>
            <a:ext cx="6516000" cy="3420000"/>
            <a:chOff x="131713" y="2546256"/>
            <a:chExt cx="6516000" cy="34200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573623-C4A3-21C5-71A4-66AEF2D7CE9F}"/>
                </a:ext>
              </a:extLst>
            </p:cNvPr>
            <p:cNvSpPr/>
            <p:nvPr/>
          </p:nvSpPr>
          <p:spPr bwMode="auto">
            <a:xfrm>
              <a:off x="131713" y="2546256"/>
              <a:ext cx="6516000" cy="3420000"/>
            </a:xfrm>
            <a:prstGeom prst="rect">
              <a:avLst/>
            </a:prstGeom>
            <a:noFill/>
            <a:ln w="1270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10800" rIns="10800" bIns="10800" rtlCol="0" anchor="ctr" anchorCtr="0">
              <a:spAutoFit/>
            </a:bodyPr>
            <a:lstStyle/>
            <a:p>
              <a:pPr algn="ctr"/>
              <a:endParaRPr lang="ko-KR" altLang="en-US" sz="80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4AECA48-AE23-D5B3-718E-4DC85815F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6943" y="2580953"/>
              <a:ext cx="6414358" cy="3339099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17D8E32-0DC2-FCFC-983B-CC69A9FC36BA}"/>
                </a:ext>
              </a:extLst>
            </p:cNvPr>
            <p:cNvSpPr/>
            <p:nvPr/>
          </p:nvSpPr>
          <p:spPr bwMode="auto">
            <a:xfrm>
              <a:off x="228477" y="2597590"/>
              <a:ext cx="2353691" cy="31065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10800" rIns="10800" bIns="10800" rtlCol="0" anchor="ctr" anchorCtr="0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cs typeface="Calibri" pitchFamily="34" charset="0"/>
                </a:rPr>
                <a:t>서울특별시 서초구 원지동 </a:t>
              </a:r>
              <a:r>
                <a:rPr lang="en-US" altLang="ko-KR" sz="800" dirty="0">
                  <a:solidFill>
                    <a:schemeClr val="tx1"/>
                  </a:solidFill>
                  <a:cs typeface="Calibri" pitchFamily="34" charset="0"/>
                </a:rPr>
                <a:t>97-19</a:t>
              </a:r>
              <a:endParaRPr lang="ko-KR" altLang="en-US" sz="80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A24D9CBB-9CD2-C466-777A-663F011AEDA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6" b="5645"/>
          <a:stretch>
            <a:fillRect/>
          </a:stretch>
        </p:blipFill>
        <p:spPr>
          <a:xfrm>
            <a:off x="61464" y="1447544"/>
            <a:ext cx="6662641" cy="18440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A385B9-6252-6EC5-C987-564AF2AB3837}"/>
              </a:ext>
            </a:extLst>
          </p:cNvPr>
          <p:cNvSpPr txBox="1"/>
          <p:nvPr/>
        </p:nvSpPr>
        <p:spPr>
          <a:xfrm>
            <a:off x="2323378" y="1069910"/>
            <a:ext cx="3184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시유재산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소개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토지정밀대장 조회   데이터 관리   게시판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D9065E-418D-D901-C12B-FD1CFF3C792B}"/>
              </a:ext>
            </a:extLst>
          </p:cNvPr>
          <p:cNvCxnSpPr/>
          <p:nvPr/>
        </p:nvCxnSpPr>
        <p:spPr>
          <a:xfrm>
            <a:off x="355818" y="929509"/>
            <a:ext cx="60701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utton">
            <a:extLst>
              <a:ext uri="{FF2B5EF4-FFF2-40B4-BE49-F238E27FC236}">
                <a16:creationId xmlns:a16="http://schemas.microsoft.com/office/drawing/2014/main" id="{AD120AAE-CE05-3912-1E0D-FAA8611AB567}"/>
              </a:ext>
            </a:extLst>
          </p:cNvPr>
          <p:cNvSpPr>
            <a:spLocks/>
          </p:cNvSpPr>
          <p:nvPr/>
        </p:nvSpPr>
        <p:spPr bwMode="auto">
          <a:xfrm>
            <a:off x="5536727" y="1080457"/>
            <a:ext cx="865894" cy="218029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시유재산</a:t>
            </a:r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 지도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1" name="Button">
            <a:extLst>
              <a:ext uri="{FF2B5EF4-FFF2-40B4-BE49-F238E27FC236}">
                <a16:creationId xmlns:a16="http://schemas.microsoft.com/office/drawing/2014/main" id="{7DF4F6AD-967F-11C0-1020-9D5CBF163198}"/>
              </a:ext>
            </a:extLst>
          </p:cNvPr>
          <p:cNvSpPr>
            <a:spLocks/>
          </p:cNvSpPr>
          <p:nvPr/>
        </p:nvSpPr>
        <p:spPr bwMode="auto">
          <a:xfrm>
            <a:off x="6043604" y="710091"/>
            <a:ext cx="351615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로그인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2" name="Button">
            <a:extLst>
              <a:ext uri="{FF2B5EF4-FFF2-40B4-BE49-F238E27FC236}">
                <a16:creationId xmlns:a16="http://schemas.microsoft.com/office/drawing/2014/main" id="{DD524D55-A182-B406-CEEF-FDF4702773D8}"/>
              </a:ext>
            </a:extLst>
          </p:cNvPr>
          <p:cNvSpPr>
            <a:spLocks/>
          </p:cNvSpPr>
          <p:nvPr/>
        </p:nvSpPr>
        <p:spPr bwMode="auto">
          <a:xfrm>
            <a:off x="5536726" y="710091"/>
            <a:ext cx="468001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회원가입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3" name="Label">
            <a:extLst>
              <a:ext uri="{FF2B5EF4-FFF2-40B4-BE49-F238E27FC236}">
                <a16:creationId xmlns:a16="http://schemas.microsoft.com/office/drawing/2014/main" id="{6D1B39CC-2AC1-059C-346F-3BD48BB07E4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291" y="212577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6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6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Label">
            <a:extLst>
              <a:ext uri="{FF2B5EF4-FFF2-40B4-BE49-F238E27FC236}">
                <a16:creationId xmlns:a16="http://schemas.microsoft.com/office/drawing/2014/main" id="{3F5C7E1C-6094-80E8-2290-17A1240AB20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6689" y="2488811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서울시가 보유한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시유재산의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위치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용도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활용 현황 등을 한눈에 확인할 수 있는 플랫폼 입니다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26887A00-6173-D3BE-968F-FB17B14D3E8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" y="662157"/>
            <a:ext cx="787232" cy="212474"/>
          </a:xfrm>
          <a:prstGeom prst="rect">
            <a:avLst/>
          </a:prstGeom>
        </p:spPr>
      </p:pic>
      <p:sp>
        <p:nvSpPr>
          <p:cNvPr id="26" name="Label">
            <a:extLst>
              <a:ext uri="{FF2B5EF4-FFF2-40B4-BE49-F238E27FC236}">
                <a16:creationId xmlns:a16="http://schemas.microsoft.com/office/drawing/2014/main" id="{273AEED0-71D1-2B94-C731-C858D40A558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505711" y="1029718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9" name="Label">
            <a:extLst>
              <a:ext uri="{FF2B5EF4-FFF2-40B4-BE49-F238E27FC236}">
                <a16:creationId xmlns:a16="http://schemas.microsoft.com/office/drawing/2014/main" id="{5CE0A052-550B-9CF8-DE53-64318E9C7A3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802434" y="4699339"/>
            <a:ext cx="2297362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b="1" dirty="0">
                <a:solidFill>
                  <a:schemeClr val="accent2"/>
                </a:solidFill>
                <a:latin typeface="+mn-ea"/>
                <a:cs typeface="Segoe UI" panose="020B0502040204020203" pitchFamily="34" charset="0"/>
              </a:rPr>
              <a:t>지도는 </a:t>
            </a:r>
            <a:r>
              <a:rPr lang="ko-KR" altLang="en-US" sz="1050" b="1" dirty="0" err="1">
                <a:solidFill>
                  <a:schemeClr val="accent2"/>
                </a:solidFill>
                <a:latin typeface="+mn-ea"/>
                <a:cs typeface="Segoe UI" panose="020B0502040204020203" pitchFamily="34" charset="0"/>
              </a:rPr>
              <a:t>카카오맵</a:t>
            </a:r>
            <a:endParaRPr lang="en-US" altLang="ko-KR" sz="1050" b="1" dirty="0">
              <a:solidFill>
                <a:schemeClr val="accent2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1" name="Label">
            <a:extLst>
              <a:ext uri="{FF2B5EF4-FFF2-40B4-BE49-F238E27FC236}">
                <a16:creationId xmlns:a16="http://schemas.microsoft.com/office/drawing/2014/main" id="{F8802A2E-DD83-52CE-6A55-683351F1E5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-1432312" y="290131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b="1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지도</a:t>
            </a:r>
            <a:endParaRPr lang="en-US" sz="12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4" name="Button">
            <a:extLst>
              <a:ext uri="{FF2B5EF4-FFF2-40B4-BE49-F238E27FC236}">
                <a16:creationId xmlns:a16="http://schemas.microsoft.com/office/drawing/2014/main" id="{4815B3F2-B0AD-505F-F295-2119C5E2D982}"/>
              </a:ext>
            </a:extLst>
          </p:cNvPr>
          <p:cNvSpPr>
            <a:spLocks/>
          </p:cNvSpPr>
          <p:nvPr/>
        </p:nvSpPr>
        <p:spPr bwMode="auto">
          <a:xfrm>
            <a:off x="2023871" y="3484948"/>
            <a:ext cx="468001" cy="135378"/>
          </a:xfrm>
          <a:prstGeom prst="roundRect">
            <a:avLst>
              <a:gd name="adj" fmla="val 8776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검색</a:t>
            </a:r>
            <a:endParaRPr 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cxnSp>
        <p:nvCxnSpPr>
          <p:cNvPr id="519" name="직선 연결선 518">
            <a:extLst>
              <a:ext uri="{FF2B5EF4-FFF2-40B4-BE49-F238E27FC236}">
                <a16:creationId xmlns:a16="http://schemas.microsoft.com/office/drawing/2014/main" id="{106DFFAB-DAA2-73E5-25E0-52C881E1D36E}"/>
              </a:ext>
            </a:extLst>
          </p:cNvPr>
          <p:cNvCxnSpPr/>
          <p:nvPr/>
        </p:nvCxnSpPr>
        <p:spPr>
          <a:xfrm>
            <a:off x="1950720" y="3398219"/>
            <a:ext cx="0" cy="310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2B4BB9-FE65-6D69-7247-19AD88A99EAC}"/>
              </a:ext>
            </a:extLst>
          </p:cNvPr>
          <p:cNvSpPr/>
          <p:nvPr/>
        </p:nvSpPr>
        <p:spPr>
          <a:xfrm>
            <a:off x="197613" y="3367930"/>
            <a:ext cx="2377947" cy="347458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4B144D-9260-DFEC-8AFA-BF281ACF76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6939" y="3493015"/>
            <a:ext cx="304800" cy="200977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B612E7-ADE9-9A7F-0F48-09D917A65E93}"/>
              </a:ext>
            </a:extLst>
          </p:cNvPr>
          <p:cNvSpPr/>
          <p:nvPr/>
        </p:nvSpPr>
        <p:spPr>
          <a:xfrm>
            <a:off x="6104065" y="3499474"/>
            <a:ext cx="430010" cy="2038013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43FBA52-198C-3CAB-E606-FFD020B8377C}"/>
              </a:ext>
            </a:extLst>
          </p:cNvPr>
          <p:cNvSpPr/>
          <p:nvPr/>
        </p:nvSpPr>
        <p:spPr>
          <a:xfrm>
            <a:off x="6018781" y="3442615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900FF02B-A3D8-63FF-5AD8-EDC9284594C4}"/>
              </a:ext>
            </a:extLst>
          </p:cNvPr>
          <p:cNvSpPr/>
          <p:nvPr/>
        </p:nvSpPr>
        <p:spPr>
          <a:xfrm>
            <a:off x="2543996" y="3255306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C7BBEE-F725-1BF0-7773-DF3E26ED32AF}"/>
              </a:ext>
            </a:extLst>
          </p:cNvPr>
          <p:cNvSpPr/>
          <p:nvPr/>
        </p:nvSpPr>
        <p:spPr>
          <a:xfrm>
            <a:off x="5536726" y="1023795"/>
            <a:ext cx="889241" cy="331413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2" name="타원 511">
            <a:extLst>
              <a:ext uri="{FF2B5EF4-FFF2-40B4-BE49-F238E27FC236}">
                <a16:creationId xmlns:a16="http://schemas.microsoft.com/office/drawing/2014/main" id="{1B60E245-168A-572E-A74E-7F9DD4773234}"/>
              </a:ext>
            </a:extLst>
          </p:cNvPr>
          <p:cNvSpPr/>
          <p:nvPr/>
        </p:nvSpPr>
        <p:spPr>
          <a:xfrm>
            <a:off x="6328311" y="919212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4488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E47F-7C08-AFC1-9B52-A21F1500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4">
            <a:extLst>
              <a:ext uri="{FF2B5EF4-FFF2-40B4-BE49-F238E27FC236}">
                <a16:creationId xmlns:a16="http://schemas.microsoft.com/office/drawing/2014/main" id="{CEA64D1C-3D6B-FB2B-B881-FE5F4DC96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04" y="620009"/>
            <a:ext cx="6695793" cy="601568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924" dirty="0">
                <a:latin typeface="HDCardLight" pitchFamily="50" charset="-127"/>
                <a:ea typeface="HDCardLight" pitchFamily="50" charset="-127"/>
              </a:rPr>
              <a:t> </a:t>
            </a:r>
            <a:endParaRPr lang="ko-KR" altLang="en-US" sz="924" dirty="0">
              <a:latin typeface="HDCardLight" pitchFamily="50" charset="-127"/>
              <a:ea typeface="HDCardLight" pitchFamily="50" charset="-127"/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A6EC50CB-6382-964A-D4F5-437E25607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090855"/>
              </p:ext>
            </p:extLst>
          </p:nvPr>
        </p:nvGraphicFramePr>
        <p:xfrm>
          <a:off x="6948263" y="548680"/>
          <a:ext cx="2160242" cy="3514416"/>
        </p:xfrm>
        <a:graphic>
          <a:graphicData uri="http://schemas.openxmlformats.org/drawingml/2006/table">
            <a:tbl>
              <a:tblPr firstRow="1" bandRow="1"/>
              <a:tblGrid>
                <a:gridCol w="288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4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시스템명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업무명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latinLnBrk="1"/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700" b="1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700" b="1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700" b="1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화면 및 기능설명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1" kern="1200" dirty="0">
                        <a:solidFill>
                          <a:srgbClr val="333333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로그인 화면</a:t>
                      </a:r>
                      <a:endParaRPr lang="en-US" altLang="ko-KR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로그인 화면 가기 버튼</a:t>
                      </a:r>
                      <a:endParaRPr lang="en-US" altLang="ko-KR" sz="700" dirty="0">
                        <a:solidFill>
                          <a:srgbClr val="333333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</a:rPr>
                        <a:t>아이디 입력 창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입력 창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3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버튼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645768"/>
                  </a:ext>
                </a:extLst>
              </a:tr>
              <a:tr h="127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기억하기 체크 박스 버튼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71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찾기 화면 가기 버튼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28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 화면 가기 버튼</a:t>
                      </a: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762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616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90162"/>
                  </a:ext>
                </a:extLst>
              </a:tr>
              <a:tr h="313632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174385"/>
                  </a:ext>
                </a:extLst>
              </a:tr>
              <a:tr h="235224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0270"/>
                  </a:ext>
                </a:extLst>
              </a:tr>
              <a:tr h="156816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19153"/>
                  </a:ext>
                </a:extLst>
              </a:tr>
            </a:tbl>
          </a:graphicData>
        </a:graphic>
      </p:graphicFrame>
      <p:sp>
        <p:nvSpPr>
          <p:cNvPr id="513" name="Rectangle 4">
            <a:extLst>
              <a:ext uri="{FF2B5EF4-FFF2-40B4-BE49-F238E27FC236}">
                <a16:creationId xmlns:a16="http://schemas.microsoft.com/office/drawing/2014/main" id="{B6A73C42-466B-0D3E-D012-D2B816497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13" y="6020983"/>
            <a:ext cx="6509392" cy="5233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831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5" name="순서도: 처리 514">
            <a:extLst>
              <a:ext uri="{FF2B5EF4-FFF2-40B4-BE49-F238E27FC236}">
                <a16:creationId xmlns:a16="http://schemas.microsoft.com/office/drawing/2014/main" id="{7A0F2A85-E9F6-A12A-1EE7-6B31E407C996}"/>
              </a:ext>
            </a:extLst>
          </p:cNvPr>
          <p:cNvSpPr/>
          <p:nvPr/>
        </p:nvSpPr>
        <p:spPr bwMode="auto">
          <a:xfrm>
            <a:off x="1633694" y="6129460"/>
            <a:ext cx="4079643" cy="323165"/>
          </a:xfrm>
          <a:prstGeom prst="flowChartProcess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 latinLnBrk="0">
              <a:defRPr/>
            </a:pPr>
            <a:r>
              <a:rPr lang="ko-KR" altLang="en-US" sz="700" dirty="0"/>
              <a:t>서비스약관</a:t>
            </a:r>
            <a:r>
              <a:rPr lang="en-US" altLang="ko-KR" sz="700" dirty="0"/>
              <a:t> |  </a:t>
            </a:r>
            <a:r>
              <a:rPr lang="ko-KR" altLang="en-US" sz="700" dirty="0"/>
              <a:t>개인정보처리방침</a:t>
            </a:r>
            <a:r>
              <a:rPr lang="en-US" altLang="ko-KR" sz="700" dirty="0"/>
              <a:t> | </a:t>
            </a:r>
            <a:r>
              <a:rPr lang="ko-KR" altLang="en-US" sz="700" dirty="0"/>
              <a:t>저작권정책</a:t>
            </a:r>
            <a:r>
              <a:rPr lang="en-US" altLang="ko-KR" sz="700" dirty="0"/>
              <a:t> | </a:t>
            </a:r>
            <a:r>
              <a:rPr lang="ko-KR" altLang="en-US" sz="700" dirty="0"/>
              <a:t>오류신고</a:t>
            </a:r>
            <a:endParaRPr lang="en-US" altLang="ko-KR" sz="700" dirty="0"/>
          </a:p>
          <a:p>
            <a:pPr algn="ctr" latinLnBrk="0">
              <a:defRPr/>
            </a:pPr>
            <a:r>
              <a:rPr lang="en-US" altLang="ko-KR" sz="700" dirty="0"/>
              <a:t>(00000) </a:t>
            </a:r>
            <a:r>
              <a:rPr lang="ko-KR" altLang="en-US" sz="700" dirty="0"/>
              <a:t>서울특별시 서초구 </a:t>
            </a:r>
            <a:r>
              <a:rPr lang="ko-KR" altLang="en-US" sz="700" dirty="0" err="1"/>
              <a:t>원신동</a:t>
            </a:r>
            <a:r>
              <a:rPr lang="ko-KR" altLang="en-US" sz="700" dirty="0"/>
              <a:t> </a:t>
            </a:r>
            <a:r>
              <a:rPr lang="en-US" altLang="ko-KR" sz="700" dirty="0"/>
              <a:t>xx</a:t>
            </a:r>
            <a:r>
              <a:rPr lang="ko-KR" altLang="en-US" sz="700" dirty="0"/>
              <a:t>대로 </a:t>
            </a:r>
            <a:r>
              <a:rPr lang="en-US" altLang="ko-KR" sz="700" dirty="0"/>
              <a:t>21 </a:t>
            </a:r>
            <a:r>
              <a:rPr lang="en-US" altLang="ko-KR" sz="700" dirty="0" err="1"/>
              <a:t>xxxxx</a:t>
            </a:r>
            <a:r>
              <a:rPr lang="en-US" altLang="ko-KR" sz="700" dirty="0"/>
              <a:t>   </a:t>
            </a:r>
            <a:r>
              <a:rPr lang="ko-KR" altLang="en-US" sz="700" dirty="0"/>
              <a:t>☎ 대표 전화 </a:t>
            </a:r>
            <a:r>
              <a:rPr lang="en-US" altLang="ko-KR" sz="700" dirty="0"/>
              <a:t>02-xxx-xxxx </a:t>
            </a:r>
            <a:r>
              <a:rPr lang="ko-KR" altLang="en-US" sz="700" dirty="0"/>
              <a:t>대표 팩스 </a:t>
            </a:r>
            <a:r>
              <a:rPr lang="en-US" altLang="ko-KR" sz="700" dirty="0"/>
              <a:t>02-xxx-xxxx</a:t>
            </a:r>
          </a:p>
          <a:p>
            <a:pPr algn="ctr" latinLnBrk="0">
              <a:defRPr/>
            </a:pPr>
            <a:r>
              <a:rPr lang="en-US" altLang="ko-KR" sz="700" kern="0" dirty="0">
                <a:latin typeface="맑은 고딕" pitchFamily="50" charset="-127"/>
                <a:ea typeface="맑은 고딕" pitchFamily="50" charset="-127"/>
              </a:rPr>
              <a:t>Copyright</a:t>
            </a: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ⓒ </a:t>
            </a:r>
            <a:r>
              <a:rPr lang="en-US" altLang="ko-KR" sz="700" kern="0" dirty="0">
                <a:latin typeface="맑은 고딕" pitchFamily="50" charset="-127"/>
                <a:ea typeface="맑은 고딕" pitchFamily="50" charset="-127"/>
              </a:rPr>
              <a:t>2025 GEO-MATICS Co., Ltd..</a:t>
            </a: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kern="0" dirty="0">
                <a:latin typeface="맑은 고딕" pitchFamily="50" charset="-127"/>
                <a:ea typeface="맑은 고딕" pitchFamily="50" charset="-127"/>
              </a:rPr>
              <a:t>All</a:t>
            </a: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kern="0" dirty="0">
                <a:latin typeface="맑은 고딕" pitchFamily="50" charset="-127"/>
                <a:ea typeface="맑은 고딕" pitchFamily="50" charset="-127"/>
              </a:rPr>
              <a:t>rights Reserved.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15AD65B-0B9E-BA25-08DF-BD041337B3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477" y="6113071"/>
            <a:ext cx="711887" cy="35594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7654E4C-4CA4-5DAE-BA16-EAAA8258F32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6" b="5645"/>
          <a:stretch>
            <a:fillRect/>
          </a:stretch>
        </p:blipFill>
        <p:spPr>
          <a:xfrm>
            <a:off x="61464" y="1447544"/>
            <a:ext cx="6662641" cy="18440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DDE707A-AA04-11D9-A157-9133A27E57E5}"/>
              </a:ext>
            </a:extLst>
          </p:cNvPr>
          <p:cNvSpPr txBox="1"/>
          <p:nvPr/>
        </p:nvSpPr>
        <p:spPr>
          <a:xfrm>
            <a:off x="2323378" y="1069910"/>
            <a:ext cx="3184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시유재산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소개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토지정밀대장 조회   데이터 관리   게시판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728E17B-6EE6-C3CF-DD30-23C15277B007}"/>
              </a:ext>
            </a:extLst>
          </p:cNvPr>
          <p:cNvCxnSpPr/>
          <p:nvPr/>
        </p:nvCxnSpPr>
        <p:spPr>
          <a:xfrm>
            <a:off x="355818" y="929509"/>
            <a:ext cx="60701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Button">
            <a:extLst>
              <a:ext uri="{FF2B5EF4-FFF2-40B4-BE49-F238E27FC236}">
                <a16:creationId xmlns:a16="http://schemas.microsoft.com/office/drawing/2014/main" id="{1B217BEC-4F59-2EB3-EB67-D6AC518AD517}"/>
              </a:ext>
            </a:extLst>
          </p:cNvPr>
          <p:cNvSpPr>
            <a:spLocks/>
          </p:cNvSpPr>
          <p:nvPr/>
        </p:nvSpPr>
        <p:spPr bwMode="auto">
          <a:xfrm>
            <a:off x="5536727" y="1080457"/>
            <a:ext cx="865894" cy="218029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시유재산</a:t>
            </a:r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 지도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31" name="Button">
            <a:extLst>
              <a:ext uri="{FF2B5EF4-FFF2-40B4-BE49-F238E27FC236}">
                <a16:creationId xmlns:a16="http://schemas.microsoft.com/office/drawing/2014/main" id="{B1DCEA77-CFAF-CE6A-3CFF-6D1957BA7F32}"/>
              </a:ext>
            </a:extLst>
          </p:cNvPr>
          <p:cNvSpPr>
            <a:spLocks/>
          </p:cNvSpPr>
          <p:nvPr/>
        </p:nvSpPr>
        <p:spPr bwMode="auto">
          <a:xfrm>
            <a:off x="6043604" y="710091"/>
            <a:ext cx="351615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로그인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4" name="Button">
            <a:extLst>
              <a:ext uri="{FF2B5EF4-FFF2-40B4-BE49-F238E27FC236}">
                <a16:creationId xmlns:a16="http://schemas.microsoft.com/office/drawing/2014/main" id="{B741BE76-5809-1D06-06B7-5C071BA1F2AA}"/>
              </a:ext>
            </a:extLst>
          </p:cNvPr>
          <p:cNvSpPr>
            <a:spLocks/>
          </p:cNvSpPr>
          <p:nvPr/>
        </p:nvSpPr>
        <p:spPr bwMode="auto">
          <a:xfrm>
            <a:off x="5536726" y="710091"/>
            <a:ext cx="468001" cy="135378"/>
          </a:xfrm>
          <a:prstGeom prst="roundRect">
            <a:avLst>
              <a:gd name="adj" fmla="val 8776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돋움" pitchFamily="50" charset="-127"/>
                <a:ea typeface="돋움" pitchFamily="50" charset="-127"/>
              </a:rPr>
              <a:t>회원가입</a:t>
            </a:r>
            <a:endParaRPr lang="en-US" sz="700" b="1" dirty="0">
              <a:solidFill>
                <a:schemeClr val="tx1">
                  <a:lumMod val="95000"/>
                  <a:lumOff val="5000"/>
                </a:schemeClr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6" name="Label">
            <a:extLst>
              <a:ext uri="{FF2B5EF4-FFF2-40B4-BE49-F238E27FC236}">
                <a16:creationId xmlns:a16="http://schemas.microsoft.com/office/drawing/2014/main" id="{D8A1DA6D-DE27-739F-0A3E-463C23E04DC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6291" y="2125773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 b="1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6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6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9" name="Label">
            <a:extLst>
              <a:ext uri="{FF2B5EF4-FFF2-40B4-BE49-F238E27FC236}">
                <a16:creationId xmlns:a16="http://schemas.microsoft.com/office/drawing/2014/main" id="{A248FB74-7E4D-DE87-A768-B0FF51ABC11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6689" y="2488811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서울시가 보유한 </a:t>
            </a:r>
            <a:r>
              <a:rPr lang="ko-KR" altLang="en-US" sz="7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시유재산의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 위치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용도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활용 현황 등을 한눈에 확인할 수 있는 플랫폼 입니다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520" name="그림 519">
            <a:extLst>
              <a:ext uri="{FF2B5EF4-FFF2-40B4-BE49-F238E27FC236}">
                <a16:creationId xmlns:a16="http://schemas.microsoft.com/office/drawing/2014/main" id="{B67807C6-1E3F-3BF7-F7EF-2646CAD1004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9" y="662157"/>
            <a:ext cx="787232" cy="212474"/>
          </a:xfrm>
          <a:prstGeom prst="rect">
            <a:avLst/>
          </a:prstGeom>
        </p:spPr>
      </p:pic>
      <p:sp>
        <p:nvSpPr>
          <p:cNvPr id="521" name="Label">
            <a:extLst>
              <a:ext uri="{FF2B5EF4-FFF2-40B4-BE49-F238E27FC236}">
                <a16:creationId xmlns:a16="http://schemas.microsoft.com/office/drawing/2014/main" id="{BB09A1F7-3963-C17E-B2A6-2730D1E7486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505711" y="1029718"/>
            <a:ext cx="5112985" cy="351792"/>
          </a:xfrm>
          <a:prstGeom prst="rect">
            <a:avLst/>
          </a:prstGeom>
          <a:noFill/>
        </p:spPr>
        <p:txBody>
          <a:bodyPr wrap="square" lIns="36000" tIns="0" rIns="3600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시유재산</a:t>
            </a:r>
            <a:r>
              <a:rPr lang="ko-KR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rPr>
              <a:t> 관리 시스템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EDA09CA-2EA8-9758-D703-647B40230081}"/>
              </a:ext>
            </a:extLst>
          </p:cNvPr>
          <p:cNvGrpSpPr/>
          <p:nvPr/>
        </p:nvGrpSpPr>
        <p:grpSpPr>
          <a:xfrm>
            <a:off x="524021" y="2125773"/>
            <a:ext cx="6117084" cy="3419650"/>
            <a:chOff x="389374" y="2082737"/>
            <a:chExt cx="6117084" cy="341965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638643E8-D785-4BD8-F471-39957B6DDEAF}"/>
                </a:ext>
              </a:extLst>
            </p:cNvPr>
            <p:cNvSpPr/>
            <p:nvPr/>
          </p:nvSpPr>
          <p:spPr bwMode="auto">
            <a:xfrm>
              <a:off x="1633694" y="2082737"/>
              <a:ext cx="3419650" cy="3419650"/>
            </a:xfrm>
            <a:prstGeom prst="round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10800" rIns="10800" bIns="10800" rtlCol="0" anchor="ctr" anchorCtr="0">
              <a:spAutoFit/>
            </a:bodyPr>
            <a:lstStyle/>
            <a:p>
              <a:pPr algn="ctr"/>
              <a:endParaRPr lang="ko-KR" altLang="en-US" sz="800" dirty="0">
                <a:solidFill>
                  <a:schemeClr val="tx1"/>
                </a:solidFill>
                <a:cs typeface="Calibri" pitchFamily="34" charset="0"/>
              </a:endParaRPr>
            </a:p>
          </p:txBody>
        </p:sp>
        <p:sp>
          <p:nvSpPr>
            <p:cNvPr id="3" name="Label">
              <a:extLst>
                <a:ext uri="{FF2B5EF4-FFF2-40B4-BE49-F238E27FC236}">
                  <a16:creationId xmlns:a16="http://schemas.microsoft.com/office/drawing/2014/main" id="{A65EB907-0826-0AB6-8461-4DF8BD053DD9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87026" y="2237281"/>
              <a:ext cx="5112985" cy="351792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LOGIN</a:t>
              </a:r>
            </a:p>
          </p:txBody>
        </p:sp>
        <p:sp>
          <p:nvSpPr>
            <p:cNvPr id="5" name="Label">
              <a:extLst>
                <a:ext uri="{FF2B5EF4-FFF2-40B4-BE49-F238E27FC236}">
                  <a16:creationId xmlns:a16="http://schemas.microsoft.com/office/drawing/2014/main" id="{73D95193-13DB-9068-A852-7F6DEC36FEB5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1091203" y="2615130"/>
              <a:ext cx="4603160" cy="351792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로그인을 해주세요</a:t>
              </a:r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, 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아이디가 없으면 회원 가입을 해주세요</a:t>
              </a:r>
              <a:endPara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3FB983F-C746-1C43-433D-08503D5741DE}"/>
                </a:ext>
              </a:extLst>
            </p:cNvPr>
            <p:cNvSpPr/>
            <p:nvPr/>
          </p:nvSpPr>
          <p:spPr bwMode="auto">
            <a:xfrm>
              <a:off x="2071708" y="3083253"/>
              <a:ext cx="2634516" cy="378813"/>
            </a:xfrm>
            <a:prstGeom prst="roundRect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10800" rIns="10800" bIns="10800" rtlCol="0" anchor="ctr" anchorCtr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cs typeface="Calibri" pitchFamily="34" charset="0"/>
                </a:rPr>
                <a:t>아이디를 입력하세요</a:t>
              </a:r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cs typeface="Calibri" pitchFamily="34" charset="0"/>
                </a:rPr>
                <a:t>.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0B59918-4925-C054-EBCD-0F540463B4B6}"/>
                </a:ext>
              </a:extLst>
            </p:cNvPr>
            <p:cNvSpPr/>
            <p:nvPr/>
          </p:nvSpPr>
          <p:spPr bwMode="auto">
            <a:xfrm>
              <a:off x="2071708" y="3562274"/>
              <a:ext cx="2634516" cy="378813"/>
            </a:xfrm>
            <a:prstGeom prst="roundRect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10800" rIns="10800" bIns="10800" rtlCol="0" anchor="ctr" anchorCtr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cs typeface="Calibri" pitchFamily="34" charset="0"/>
                </a:rPr>
                <a:t>비밀번호를 입력하세요</a:t>
              </a:r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cs typeface="Calibri" pitchFamily="34" charset="0"/>
                </a:rPr>
                <a:t>.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0378CF8-5956-DEE3-5409-B4113DA6A180}"/>
                </a:ext>
              </a:extLst>
            </p:cNvPr>
            <p:cNvSpPr/>
            <p:nvPr/>
          </p:nvSpPr>
          <p:spPr bwMode="auto">
            <a:xfrm>
              <a:off x="2071708" y="4058514"/>
              <a:ext cx="2634516" cy="344375"/>
            </a:xfrm>
            <a:prstGeom prst="roundRect">
              <a:avLst/>
            </a:prstGeom>
            <a:solidFill>
              <a:srgbClr val="00B0F0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10800" rIns="10800" bIns="10800" rtlCol="0" anchor="ctr" anchorCtr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Calibri" pitchFamily="34" charset="0"/>
                </a:rPr>
                <a:t>로그인</a:t>
              </a:r>
            </a:p>
          </p:txBody>
        </p:sp>
        <p:sp>
          <p:nvSpPr>
            <p:cNvPr id="10" name="Label">
              <a:extLst>
                <a:ext uri="{FF2B5EF4-FFF2-40B4-BE49-F238E27FC236}">
                  <a16:creationId xmlns:a16="http://schemas.microsoft.com/office/drawing/2014/main" id="{3580E88F-9987-412C-8749-379C379A9CBA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903298" y="4518761"/>
              <a:ext cx="4603160" cy="351792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아이디</a:t>
              </a:r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비밀번호 찾기</a:t>
              </a:r>
              <a:endPara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1CB75EDE-767E-86B2-04FD-8EED8C7A7B28}"/>
                </a:ext>
              </a:extLst>
            </p:cNvPr>
            <p:cNvSpPr/>
            <p:nvPr/>
          </p:nvSpPr>
          <p:spPr bwMode="auto">
            <a:xfrm>
              <a:off x="2081133" y="4584822"/>
              <a:ext cx="166078" cy="194391"/>
            </a:xfrm>
            <a:prstGeom prst="roundRect">
              <a:avLst/>
            </a:prstGeom>
            <a:solidFill>
              <a:schemeClr val="bg1"/>
            </a:solidFill>
            <a:ln w="6350" cap="flat" cmpd="sng" algn="ctr">
              <a:solidFill>
                <a:srgbClr val="00B0F0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10800" rIns="10800" bIns="10800" rtlCol="0" anchor="ctr" anchorCtr="0">
              <a:spAutoFit/>
            </a:bodyPr>
            <a:lstStyle/>
            <a:p>
              <a:pPr algn="ctr"/>
              <a:endParaRPr lang="ko-KR" altLang="en-US" sz="1000" dirty="0">
                <a:solidFill>
                  <a:schemeClr val="bg1">
                    <a:lumMod val="6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F1374BD5-40C0-A05D-BF39-0D1521AA94E1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389374" y="4518761"/>
              <a:ext cx="4603160" cy="351792"/>
            </a:xfrm>
            <a:prstGeom prst="rect">
              <a:avLst/>
            </a:prstGeom>
            <a:noFill/>
          </p:spPr>
          <p:txBody>
            <a:bodyPr wrap="square" lIns="36000" tIns="0" rIns="36000" bIns="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아이디</a:t>
              </a:r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 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cs typeface="Segoe UI" panose="020B0502040204020203" pitchFamily="34" charset="0"/>
                </a:rPr>
                <a:t>기억하기</a:t>
              </a:r>
              <a:endParaRPr lang="en-US" altLang="ko-K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27083746-4239-F986-9CC5-4F2AADA1295D}"/>
                </a:ext>
              </a:extLst>
            </p:cNvPr>
            <p:cNvSpPr/>
            <p:nvPr/>
          </p:nvSpPr>
          <p:spPr bwMode="auto">
            <a:xfrm>
              <a:off x="2071708" y="5013905"/>
              <a:ext cx="2634516" cy="34437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10800" rIns="10800" bIns="10800" rtlCol="0" anchor="ctr" anchorCtr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Calibri" pitchFamily="34" charset="0"/>
                </a:rPr>
                <a:t>회원가입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376FD6-03AC-C00B-DB4A-C2834DE11CBD}"/>
              </a:ext>
            </a:extLst>
          </p:cNvPr>
          <p:cNvSpPr/>
          <p:nvPr/>
        </p:nvSpPr>
        <p:spPr>
          <a:xfrm>
            <a:off x="6043604" y="710090"/>
            <a:ext cx="382363" cy="164541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A509FE0-0889-324F-6AB6-AC55C1D78203}"/>
              </a:ext>
            </a:extLst>
          </p:cNvPr>
          <p:cNvSpPr/>
          <p:nvPr/>
        </p:nvSpPr>
        <p:spPr>
          <a:xfrm>
            <a:off x="6341176" y="566738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F80C9E-8578-14B4-C078-338B39C2D613}"/>
              </a:ext>
            </a:extLst>
          </p:cNvPr>
          <p:cNvSpPr/>
          <p:nvPr/>
        </p:nvSpPr>
        <p:spPr>
          <a:xfrm>
            <a:off x="2160867" y="3101093"/>
            <a:ext cx="2680004" cy="412516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22E9730-C3F2-452B-E88C-CC926EB789C8}"/>
              </a:ext>
            </a:extLst>
          </p:cNvPr>
          <p:cNvSpPr/>
          <p:nvPr/>
        </p:nvSpPr>
        <p:spPr>
          <a:xfrm>
            <a:off x="4743288" y="3002140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E36D18-928F-7A98-4842-F9DF799E50DC}"/>
              </a:ext>
            </a:extLst>
          </p:cNvPr>
          <p:cNvSpPr/>
          <p:nvPr/>
        </p:nvSpPr>
        <p:spPr>
          <a:xfrm>
            <a:off x="2160867" y="3576653"/>
            <a:ext cx="2680004" cy="412516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8AA510F-1F30-43D5-F277-A935E9DD5ED7}"/>
              </a:ext>
            </a:extLst>
          </p:cNvPr>
          <p:cNvSpPr/>
          <p:nvPr/>
        </p:nvSpPr>
        <p:spPr>
          <a:xfrm>
            <a:off x="4743288" y="3477700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3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25" name="직사각형 524">
            <a:extLst>
              <a:ext uri="{FF2B5EF4-FFF2-40B4-BE49-F238E27FC236}">
                <a16:creationId xmlns:a16="http://schemas.microsoft.com/office/drawing/2014/main" id="{77ABB036-10AC-83E6-7D83-692F72E3ED4C}"/>
              </a:ext>
            </a:extLst>
          </p:cNvPr>
          <p:cNvSpPr/>
          <p:nvPr/>
        </p:nvSpPr>
        <p:spPr>
          <a:xfrm>
            <a:off x="2160867" y="4079339"/>
            <a:ext cx="2680004" cy="412516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6" name="타원 525">
            <a:extLst>
              <a:ext uri="{FF2B5EF4-FFF2-40B4-BE49-F238E27FC236}">
                <a16:creationId xmlns:a16="http://schemas.microsoft.com/office/drawing/2014/main" id="{46762ADC-082C-D83B-7F0F-D8768F7BDB8F}"/>
              </a:ext>
            </a:extLst>
          </p:cNvPr>
          <p:cNvSpPr/>
          <p:nvPr/>
        </p:nvSpPr>
        <p:spPr>
          <a:xfrm>
            <a:off x="4743288" y="3980386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10C8564E-1E6D-76BC-5CD9-4FB0B8C1FAB4}"/>
              </a:ext>
            </a:extLst>
          </p:cNvPr>
          <p:cNvSpPr/>
          <p:nvPr/>
        </p:nvSpPr>
        <p:spPr>
          <a:xfrm>
            <a:off x="2160867" y="4607727"/>
            <a:ext cx="1129307" cy="249435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8" name="타원 527">
            <a:extLst>
              <a:ext uri="{FF2B5EF4-FFF2-40B4-BE49-F238E27FC236}">
                <a16:creationId xmlns:a16="http://schemas.microsoft.com/office/drawing/2014/main" id="{BF87E593-DB0E-3DF0-5427-F99B1F9DC9C1}"/>
              </a:ext>
            </a:extLst>
          </p:cNvPr>
          <p:cNvSpPr/>
          <p:nvPr/>
        </p:nvSpPr>
        <p:spPr>
          <a:xfrm>
            <a:off x="3102850" y="4728965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29" name="직사각형 528">
            <a:extLst>
              <a:ext uri="{FF2B5EF4-FFF2-40B4-BE49-F238E27FC236}">
                <a16:creationId xmlns:a16="http://schemas.microsoft.com/office/drawing/2014/main" id="{CFA178BA-5691-E02A-B276-B48FB578AAC0}"/>
              </a:ext>
            </a:extLst>
          </p:cNvPr>
          <p:cNvSpPr/>
          <p:nvPr/>
        </p:nvSpPr>
        <p:spPr>
          <a:xfrm>
            <a:off x="3818926" y="4607727"/>
            <a:ext cx="1129307" cy="249435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0" name="타원 529">
            <a:extLst>
              <a:ext uri="{FF2B5EF4-FFF2-40B4-BE49-F238E27FC236}">
                <a16:creationId xmlns:a16="http://schemas.microsoft.com/office/drawing/2014/main" id="{E6E25903-19E4-8AAE-1FF9-396A8C42C040}"/>
              </a:ext>
            </a:extLst>
          </p:cNvPr>
          <p:cNvSpPr/>
          <p:nvPr/>
        </p:nvSpPr>
        <p:spPr>
          <a:xfrm>
            <a:off x="4760909" y="4728965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6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31" name="직사각형 530">
            <a:extLst>
              <a:ext uri="{FF2B5EF4-FFF2-40B4-BE49-F238E27FC236}">
                <a16:creationId xmlns:a16="http://schemas.microsoft.com/office/drawing/2014/main" id="{E51E8C42-DF3B-D9A5-4B62-2AE153F2EE5D}"/>
              </a:ext>
            </a:extLst>
          </p:cNvPr>
          <p:cNvSpPr/>
          <p:nvPr/>
        </p:nvSpPr>
        <p:spPr>
          <a:xfrm>
            <a:off x="2160867" y="5009767"/>
            <a:ext cx="2680004" cy="412516"/>
          </a:xfrm>
          <a:prstGeom prst="rect">
            <a:avLst/>
          </a:pr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2" name="타원 531">
            <a:extLst>
              <a:ext uri="{FF2B5EF4-FFF2-40B4-BE49-F238E27FC236}">
                <a16:creationId xmlns:a16="http://schemas.microsoft.com/office/drawing/2014/main" id="{7323354B-0076-A9F9-BD42-EB7A21968C08}"/>
              </a:ext>
            </a:extLst>
          </p:cNvPr>
          <p:cNvSpPr/>
          <p:nvPr/>
        </p:nvSpPr>
        <p:spPr>
          <a:xfrm>
            <a:off x="4743288" y="5120403"/>
            <a:ext cx="211058" cy="21105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7</a:t>
            </a:r>
            <a:endParaRPr lang="ko-KR" altLang="en-US" sz="1200" dirty="0">
              <a:solidFill>
                <a:srgbClr val="FF0000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78153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Relative,Relativ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70C0"/>
        </a:solidFill>
        <a:ln w="6350" cap="flat" cmpd="sng" algn="ctr">
          <a:noFill/>
          <a:prstDash val="solid"/>
        </a:ln>
        <a:effectLst/>
      </a:spPr>
      <a:bodyPr wrap="square" lIns="46800" tIns="10800" rIns="10800" bIns="10800" rtlCol="0" anchor="ctr" anchorCtr="0">
        <a:spAutoFit/>
      </a:bodyPr>
      <a:lstStyle>
        <a:defPPr algn="ctr">
          <a:defRPr sz="800" dirty="0">
            <a:solidFill>
              <a:schemeClr val="tx1"/>
            </a:solidFill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800" dirty="0">
            <a:latin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74395</TotalTime>
  <Words>818</Words>
  <Application>Microsoft Office PowerPoint</Application>
  <PresentationFormat>화면 슬라이드 쇼(4:3)</PresentationFormat>
  <Paragraphs>250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HDCardLight</vt:lpstr>
      <vt:lpstr>KoPub돋움체 Bold</vt:lpstr>
      <vt:lpstr>돋움</vt:lpstr>
      <vt:lpstr>맑은 고딕</vt:lpstr>
      <vt:lpstr>휴먼명조</vt:lpstr>
      <vt:lpstr>Arial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화면정의서</dc:title>
  <dc:creator>오상자이엘</dc:creator>
  <cp:lastModifiedBy>BKJang</cp:lastModifiedBy>
  <cp:revision>9049</cp:revision>
  <cp:lastPrinted>2021-05-12T04:59:13Z</cp:lastPrinted>
  <dcterms:created xsi:type="dcterms:W3CDTF">2013-01-15T05:34:45Z</dcterms:created>
  <dcterms:modified xsi:type="dcterms:W3CDTF">2025-06-30T04:00:11Z</dcterms:modified>
</cp:coreProperties>
</file>